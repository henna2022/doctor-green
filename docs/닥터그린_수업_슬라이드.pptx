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86" r:id="rId37"/>
    <p:sldId id="271" r:id="rId17"/>
    <p:sldId id="272" r:id="rId18"/>
    <p:sldId id="273" r:id="rId19"/>
    <p:sldId id="274" r:id="rId20"/>
    <p:sldId id="275" r:id="rId21"/>
    <p:sldId id="285" r:id="rId36"/>
    <p:sldId id="276" r:id="rId22"/>
    <p:sldId id="280" r:id="rId31"/>
    <p:sldId id="281" r:id="rId32"/>
    <p:sldId id="282" r:id="rId33"/>
    <p:sldId id="283" r:id="rId34"/>
    <p:sldId id="284" r:id="rId35"/>
    <p:sldId id="277" r:id="rId23"/>
    <p:sldId id="288" r:id="rId39"/>
    <p:sldId id="287" r:id="rId38"/>
    <p:sldId id="278" r:id="rId24"/>
    <p:sldId id="279" r:id="rId2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64710"/>
    <a:srgbClr val="008F00"/>
    <a:srgbClr val="00905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589"/>
  </p:normalViewPr>
  <p:slideViewPr>
    <p:cSldViewPr snapToGrid="0" snapToObjects="1">
      <p:cViewPr>
        <p:scale>
          <a:sx n="147" d="100"/>
          <a:sy n="147" d="100"/>
        </p:scale>
        <p:origin x="1184" y="4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  <Relationship Id="rId31" Type="http://schemas.openxmlformats.org/officeDocument/2006/relationships/slide" Target="slides/slide25.xml"/>
  <Relationship Id="rId32" Type="http://schemas.openxmlformats.org/officeDocument/2006/relationships/slide" Target="slides/slide26.xml"/>
  <Relationship Id="rId33" Type="http://schemas.openxmlformats.org/officeDocument/2006/relationships/slide" Target="slides/slide27.xml"/>
  <Relationship Id="rId34" Type="http://schemas.openxmlformats.org/officeDocument/2006/relationships/slide" Target="slides/slide28.xml"/>
  <Relationship Id="rId35" Type="http://schemas.openxmlformats.org/officeDocument/2006/relationships/slide" Target="slides/slide29.xml"/>
  <Relationship Id="rId36" Type="http://schemas.openxmlformats.org/officeDocument/2006/relationships/slide" Target="slides/slide30.xml"/>
  <Relationship Id="rId37" Type="http://schemas.openxmlformats.org/officeDocument/2006/relationships/slide" Target="slides/slide31.xml"/>
  <Relationship Id="rId38" Type="http://schemas.openxmlformats.org/officeDocument/2006/relationships/slide" Target="slides/slide32.xml"/>
  <Relationship Id="rId39" Type="http://schemas.openxmlformats.org/officeDocument/2006/relationships/slide" Target="slides/slide33.xml"/>
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198203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오늘은 코드를 타이핑하지 않고 버튼으로 스마트팜 앱 하나를 완성한다는 것을 예고.</a:t>
            </a:r>
          </a:p>
          <a:p>
            <a:r>
              <a:rPr lang="en-US" dirty="0"/>
              <a:t>⏱ 도입 10분(00:00~10:00). 인사 후 이 화면에서 시작.</a:t>
            </a:r>
          </a:p>
          <a:p>
            <a:r>
              <a:rPr lang="en-US" dirty="0"/>
              <a:t>▶ 멘트: “오늘 타이핑은 인증키 붙여넣기 한 번뿐입니다. 하지만 버튼을 누를 때마다 진짜 개발자들이 쓰는 코드와 데이터베이스가 실시간으로 움직이는 걸 보게 됩니다. 그게 오늘의 관전 포인트예요.”</a:t>
            </a:r>
          </a:p>
          <a:p>
            <a:r>
              <a:rPr lang="en-US" dirty="0"/>
              <a:t>전환: 다음 슬라이드의 질문으로 동기 유발(3분).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스마트팜 사진/영상 1~2장이 있으면 이 슬라이드 전후에 보여줄 것. 실물 딸기 디바이스가 있으면 잠깐 예고.</a:t>
            </a:r>
          </a:p>
          <a:p>
            <a:r>
              <a:rPr lang="en-US" dirty="0"/>
              <a:t>▶ 멘트(3분): 슬라이드 문구를 그대로 읽고 잠깐 뜸 들이기 — “그 농장이 바로 스마트팜입니다.”</a:t>
            </a:r>
          </a:p>
          <a:p>
            <a:r>
              <a:rPr lang="en-US" dirty="0"/>
              <a:t>실물 딸기 디바이스가 있으면 이때 잠깐 들어 보이며 “이것과 똑같은 구조를 오늘 여러분이 직접 만든다”고 예고.</a:t>
            </a:r>
          </a:p>
          <a:p>
            <a:r>
              <a:rPr lang="en-US" dirty="0"/>
              <a:t>전환: “스마트팜은 어떤 기술로 이뤄질까요?” → 4가지 기술 슬라이드로.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▶ 멘트(수업 구조 안내, 2분): “스마트팜은 이 4가지 기술의 조합입니다. 오늘 이 4개를 하나씩 직접 연결합니다.”</a:t>
            </a:r>
          </a:p>
          <a:p>
            <a:r>
              <a:rPr lang="en-US" dirty="0"/>
              <a:t>👀 짚기: 1~4 번호가 곧 오늘의 STEP 순서(날씨→AI 비전→센서→카메라).</a:t>
            </a:r>
          </a:p>
          <a:p>
            <a:r>
              <a:rPr lang="en-US" dirty="0"/>
              <a:t>전환: “이 4개를 연결하면 무엇이 될까요?” → 다음 슬라이드(앱 완성 구조)로.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▶ 멘트: “STEP을 하나 통과할 때마다 내 앱의 잠긴 기능이 하나씩 켜지고, 4/4가 되면 나만의 스마트팜 앱이 완성됩니다.”</a:t>
            </a:r>
          </a:p>
          <a:p>
            <a:r>
              <a:rPr lang="en-US" dirty="0"/>
              <a:t>👀 방 번호(1~15)는 좌석 배정표대로. 다른 PC면 같은 방을 골라도 데이터 충돌은 없지만 혼동 방지를 위해 배정표대로 안내.</a:t>
            </a:r>
          </a:p>
          <a:p>
            <a:r>
              <a:rPr lang="en-US" dirty="0"/>
              <a:t>⏱ 도입은 10:00까지. 전환: “그럼 접속해 봅시다” → 접속 안내 슬라이드.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방 번호 배정표대로. 이전 기록이 남아 있으면 초기화 먼저.</a:t>
            </a:r>
          </a:p>
          <a:p>
            <a:r>
              <a:rPr lang="en-US" dirty="0"/>
              <a:t>⏱ 접속 5분. 초기화는 학생 각자 자기 PC에서 — 데이터가 각 PC 브라우저(localStorage)에 저장되므로 교사 PC에서 눌러도 학생 PC는 초기화되지 않음. 초기화하면 저장된 인증키도 함께 삭제되어 STEP 1이 잠김부터 다시 시작.</a:t>
            </a:r>
          </a:p>
          <a:p>
            <a:r>
              <a:rPr lang="en-US" dirty="0"/>
              <a:t>이때 견본 인증키를 칠판에 공유: 공백 없이 16자 이상이면 통과 — 예: SEOULRAIM2026DEMOKEY. 학생 각자 발급은 수업 중 불가(원하면 사전 과제).</a:t>
            </a:r>
          </a:p>
          <a:p>
            <a:r>
              <a:rPr lang="en-US" dirty="0"/>
              <a:t>👀 관전 포인트를 소리 내어 읽어주기: 버튼을 누를 때마다 하단 ‘가상 Supabase’에 데이터가 한 줄씩 쌓인다.</a:t>
            </a:r>
          </a:p>
          <a:p>
            <a:r>
              <a:rPr lang="en-US" dirty="0"/>
              <a:t>전환: 전원 접속·초기화 확인 후 STEP 1 표지로.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STEP 1 — 15분(10:00~25:00). 목표: 인증키를 붙여넣어 잠긴 날씨 기능을 열고, 기상청 초단기실황으로 내 위치의 진짜 날씨를 받아온다.</a:t>
            </a:r>
          </a:p>
          <a:p>
            <a:r>
              <a:rPr lang="en-US" dirty="0"/>
              <a:t>⚠ 주의: ‘실제 호출은 서버에 숨긴 키가 한다’는 연출 원리는 마무리 ‘오늘의 비밀 공개’ 전까지 절대 언급 금지.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이번 STEP은 시뮬레이션이 아니라 실제 기상청 날씨를 받아온다는 점을 강조.</a:t>
            </a:r>
          </a:p>
          <a:p>
            <a:r>
              <a:rPr lang="en-US" dirty="0"/>
              <a:t>👀 짚기: 인증키는 비밀번호처럼 — 실제 개발 현장 보안 사고의 단골이 ‘코드나 GitHub에 키를 그대로 올리는 것’. 오늘 견본 키를 다 같이 쓰는 것은 수업용 특례라는 점도 언급.</a:t>
            </a:r>
          </a:p>
          <a:p>
            <a:r>
              <a:rPr lang="en-US" dirty="0"/>
              <a:t>Q. “인증키를 친구에게 알려줘도 돼요?” → A. 안 됩니다. 남이 내 이름으로 서버를 호출할 수 있어요.</a:t>
            </a:r>
          </a:p>
          <a:p>
            <a:r>
              <a:rPr lang="en-US" dirty="0"/>
              <a:t>전환: “그 열쇠를 직접 넣어봅시다” → 다음 슬라이드(조작).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▶ 멘트: “인증이 곧 문을 여는 열쇠 — 넣기 전과 후를 꼭 비교하세요.”</a:t>
            </a:r>
          </a:p>
          <a:p>
            <a:r>
              <a:rPr lang="en-US" dirty="0"/>
              <a:t>👀 하이라이트: 잠김→켜짐 전환. 저장 전 ‘내 위치 날씨 가져오기’ 버튼이 회색으로 죽어 있는 것을 먼저 보여주고, ‘인증키 저장’ 클릭 약 1초 뒤 날씨 카드가 살아나는 순간을 다 같이 확인.</a:t>
            </a:r>
          </a:p>
          <a:p>
            <a:r>
              <a:rPr lang="en-US" dirty="0"/>
              <a:t>견본 키는 교사가 칠판에 적어 공유(공백 없이 16자 이상). 방별 저장이라 새로고침 후 재입력 불필요.</a:t>
            </a:r>
          </a:p>
          <a:p>
            <a:r>
              <a:rPr lang="en-US" dirty="0"/>
              <a:t>⚠ “아무 글자나 넣어도 되던데요?”라는 학생에겐 “그건 마무리에 공개할 오늘의 비밀”이라고만 답할 것.</a:t>
            </a:r>
          </a:p>
          <a:p>
            <a:r>
              <a:rPr lang="en-US" dirty="0"/>
              <a:t>전환: 켜진 버튼으로 진짜 날씨를 가져와 봅시다 → 다음 슬라이드.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위치 권한 거부돼도 지역 버튼으로 실제 호출 가능.</a:t>
            </a:r>
          </a:p>
          <a:p>
            <a:r>
              <a:rPr lang="en-US" dirty="0"/>
              <a:t>카드 ③에 오류 문구와 ‘체험 모드로 진행’ 버튼이 뜨면 학생 키 문제가 아니라 서버 키(KMA_SERVICE_KEY) 미설정·기상청/네트워크 장애 신호 — 교사가 점검하고, 급하면 체험 모드로 수업 계속.</a:t>
            </a:r>
          </a:p>
          <a:p>
            <a:r>
              <a:rPr lang="en-US" dirty="0"/>
              <a:t>여기까지 되면 진행도 1/4. Q. “진짜 오늘 날씨예요?” → A. 네, 기상청 초단기실황 — 방금 관측된 실제 값입니다(매시간 갱신).</a:t>
            </a:r>
          </a:p>
          <a:p>
            <a:r>
              <a:rPr lang="en-US" dirty="0"/>
              <a:t>전환: “화면의 숫자, 그냥 지나치지 마세요” → 관찰 포인트 슬라이드.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👀 이 수업 최고의 리얼리티 순간: 화면의 기온을 지금 창밖·핸드폰 날씨 앱과 직접 비교하게 할 것 — ‘진짜 데이터’ 확인.</a:t>
            </a:r>
          </a:p>
          <a:p>
            <a:r>
              <a:rPr lang="en-US" dirty="0"/>
              <a:t>👀 nx/ny = 위경도를 기상청 예보 지도의 칸 번호로 바꾼 격자 좌표. 저장 연출은 가상 Supabase지만 ‘테이블에 쌓이는 구조’는 실제 서비스와 동일.</a:t>
            </a:r>
          </a:p>
          <a:p>
            <a:r>
              <a:rPr lang="en-US" dirty="0"/>
              <a:t>빨리 끝낸 학생: 5개 지역 버튼을 전부 눌러 지역별 기온 비교(활동지 B), 옆 친구와 ‘내 위치’ 값 비교.</a:t>
            </a:r>
          </a:p>
          <a:p>
            <a:r>
              <a:rPr lang="en-US" dirty="0"/>
              <a:t>Q. “왜 친구랑 온도가 조금 달라요?” → A. 위치(격자 칸)가 다르면 관측값이 다릅니다.</a:t>
            </a:r>
          </a:p>
          <a:p>
            <a:r>
              <a:rPr lang="en-US" dirty="0"/>
              <a:t>⏱ 25:00까지 마무리. 전환: “이제 오늘의 핵심 — AI를 직접 가르쳐 봅시다.”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STEP 2 — 30분(25:00~55:00). 수업의 핵심이라 가장 길게 배정.</a:t>
            </a:r>
          </a:p>
          <a:p>
            <a:r>
              <a:rPr lang="en-US" dirty="0"/>
              <a:t>▶ 도입 멘트: “AI는 태어날 때부터 병든 잎을 아는 게 아니에요. 사람이 정답을 알려준 사진(라벨링)을 수십 번 반복해서 보여주면(epoch) 점점 실수가 줄어듭니다(loss). 오늘 여러분이 직접 AI 선생님이 됩니다.”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“오늘 여러분이 직접 AI 선생님이 됩니다.”</a:t>
            </a:r>
          </a:p>
          <a:p>
            <a:r>
              <a:rPr lang="en-US" dirty="0"/>
              <a:t>👀 라벨링 = ‘사람이 정답을 다는 일’ — 그래서 ‘데이터 라벨러’라는 직업이 있음을 언급(마지막 진로 슬라이드에서 회수됨).</a:t>
            </a:r>
          </a:p>
          <a:p>
            <a:r>
              <a:rPr lang="en-US" dirty="0"/>
              <a:t>Q. “라벨링을 사람이 다 해요?” → A. 그렇습니다. 실제로도 사람이 정답을 답니다.</a:t>
            </a:r>
          </a:p>
          <a:p>
            <a:r>
              <a:rPr lang="en-US" dirty="0"/>
              <a:t>전환: “그럼 직접 가르쳐 봅시다” → 조작 슬라이드.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조작: ① ‘샘플 잎 사진 100장 불러오기’ ② ‘직접 라벨링 체험’에서 6장을 내 손으로 건강/병 분류하고 채점(2~3분 — 라벨링이 ‘사람이 정답을 다는 일’임을 몸으로 체험) ③ epoch 슬라이더는 처음엔 기본값 15 권장 ④ ‘학습 시작’.</a:t>
            </a:r>
          </a:p>
          <a:p>
            <a:r>
              <a:rPr lang="en-US" dirty="0"/>
              <a:t>👀 짚기: 학습 시작 후 사진마다 자동으로 붙는 색 테두리는 사람이 미리 달아둔 정답을 불러오는 연출임을 설명할 것.</a:t>
            </a:r>
          </a:p>
          <a:p>
            <a:r>
              <a:rPr lang="en-US" dirty="0"/>
              <a:t>전환: 학습 곡선이 그려지기 시작하면 전원 손을 멈추게 하고 다음 슬라이드(그래프 해석)로.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순간 전체 학생을 잠깐 멈추게 하고 함께 그래프를 해석할 것 — 수업 최고의 장면.</a:t>
            </a:r>
          </a:p>
          <a:p>
            <a:r>
              <a:rPr lang="en-US" dirty="0"/>
              <a:t>▶ 멘트: “실수(loss)는 줄고, 정답률(accuracy)은 올라간다. 이게 ‘학습’의 정체입니다.”</a:t>
            </a:r>
          </a:p>
          <a:p>
            <a:r>
              <a:rPr lang="en-US" dirty="0"/>
              <a:t>👀 앱 그래프는 하락까지는 보여주지 않으므로 수확체감·과적합(암기해 버려 처음 보는 사진에 오히려 약해짐)은 교사가 말로 짚을 것 — 마무리 퀴즈 출제 범위.</a:t>
            </a:r>
          </a:p>
          <a:p>
            <a:r>
              <a:rPr lang="en-US" dirty="0"/>
              <a:t>Q. “epoch을 30으로 하면 뭐가 달라져요?” → A. 더 오래 공부하는 것. 대체로 정확도가 오르지만, 너무 반복하면 ‘과잉 학습(암기)’ 문제도 생깁니다.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조작: ‘새 잎 사진 진단하기’ → 작물+진단+신뢰도(%)가 나오고 diagnoses 테이블에 INSERT → 진행도 2/4.</a:t>
            </a:r>
          </a:p>
          <a:p>
            <a:r>
              <a:rPr lang="en-US" dirty="0"/>
              <a:t>👀 핵심: 신뢰도는 60~97% — AI는 확신이 아니라 ‘확률’로 답한다. 75% 미만(약 4번에 1번꼴)이면 실제로 ‘판단보류’ 배지가 뜬다 — “좋은 AI는 모를 때 모른다고 말한다”를 전체에게 소리 내어 짚을 것(마무리 퀴즈 출제).</a:t>
            </a:r>
          </a:p>
          <a:p>
            <a:r>
              <a:rPr lang="en-US" dirty="0"/>
              <a:t>빨리 끝낸 학생: 판단보류 3회 수집 챌린지, ‘테스트 잎으로 정밀도 확인’(TP/FP 혼동행렬 → 활동지 B에 옮겨 정밀도 계산).</a:t>
            </a:r>
          </a:p>
          <a:p>
            <a:r>
              <a:rPr lang="en-US" dirty="0"/>
              <a:t>Q. “100장으로 충분해요?” → A. 수업용 시뮬레이션 기준. 실제 YOLO 모델은 수천~수만 장을 씁니다.</a:t>
            </a:r>
          </a:p>
          <a:p>
            <a:r>
              <a:rPr lang="en-US" dirty="0"/>
              <a:t>⏱ 55:00까지. 전환: “10분 쉬고 STEP 3에서 만나요.”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STEP 3 — 20분(65:00~85:00).</a:t>
            </a:r>
          </a:p>
          <a:p>
            <a:r>
              <a:rPr lang="en-US" dirty="0"/>
              <a:t>▶ 도입 멘트: “화분 옆에 붙은 작은 컴퓨터(ESP32)가 1.5초마다 온도·습도를 재서 WiFi로 데이터베이스에 보냅니다. 오늘은 여러분 손가락이 온도계 역할을 합니다.”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조작: 전원 켜기(⚫→🟢) → 슬라이더로 온도·습도·토양수분 설정 → ‘측정값 1회 전송’(이 순간 연결 완료, 진행도 3/4) → ‘자동측정 시작’(1.5초마다) → ‘입김 불기’·‘물 주기’ 버튼으로 그래프 변화 관찰.</a:t>
            </a:r>
          </a:p>
          <a:p>
            <a:r>
              <a:rPr lang="en-US" dirty="0"/>
              <a:t>👀 흐름도 애니메이션(센서→인터넷→데이터베이스→앱 그래프)이 실물 스마트팜과 완전히 같은 구조. 전송값에 섞이는 작은 노이즈도 짚기 — 실제 센서도 항상 미세하게 흔들린다.</a:t>
            </a:r>
          </a:p>
          <a:p>
            <a:r>
              <a:rPr lang="en-US" dirty="0"/>
              <a:t>👀 토양수분은 캡스톤 물 주기 규칙과 심화 결합 진단의 기준 — 여기서 개념을 잡아두면 뒤가 편함.</a:t>
            </a:r>
          </a:p>
          <a:p>
            <a:r>
              <a:rPr lang="en-US" dirty="0"/>
              <a:t>빨리 끝낸 학생: ‘이상치 탐정’ — 짝이 몰래 넣은 입김 이벤트의 시각을 실시간 그래프만 보고 찾기(활동지 B).</a:t>
            </a:r>
          </a:p>
          <a:p>
            <a:r>
              <a:rPr lang="en-US" dirty="0"/>
              <a:t>Q. “실제로도 슬라이더로 조절해요?” → A. 아니요. 실제로는 DHT11 같은 센서가 진짜 공기를 잽니다. 슬라이더는 ‘자연’ 역할의 시뮬레이션.</a:t>
            </a:r>
          </a:p>
          <a:p>
            <a:r>
              <a:rPr lang="en-US" dirty="0"/>
              <a:t>⏱ 85:00까지. 전환: “이제 마지막 기술 — 멀리 있는 농장을 봅시다.”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STEP 4 — 10분(85:00~95:00).</a:t>
            </a:r>
          </a:p>
          <a:p>
            <a:r>
              <a:rPr lang="en-US" dirty="0"/>
              <a:t>▶ 도입 멘트: “멀리 있는 농장을 핸드폰으로 보려면? 카메라가 영상을 클라우드에 올리고, 앱은 그 ‘주소’만 알면 됩니다.”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조작: ‘카메라 연결하기’(camera_url 발급) → ‘라이브 켜기’(진행도 4/4 달성!) → ‘스냅샷 한 장 더 찍기’ 3~4회 반복.</a:t>
            </a:r>
          </a:p>
          <a:p>
            <a:r>
              <a:rPr lang="en-US" dirty="0"/>
              <a:t>활동(감지 로그 타임라인): camera_frames의 note 열(딸기 잎/꽃/열매/포기 전체 감지)을 시간순으로 읽어 “오늘 농장에 무슨 일이 있었나”를 한 문장으로 재구성해 발표시키기.</a:t>
            </a:r>
          </a:p>
          <a:p>
            <a:r>
              <a:rPr lang="en-US" dirty="0"/>
              <a:t>👀 연결고리: STEP 2의 AI 비전이 카메라 영상과 만나면 ‘자동 감시’. camera_url도 열쇠 — 초기 비밀번호를 안 바꾼 가정용 IP카메라 해킹·유출 사건을 언급하며 STEP 1 인증키와 같은 원리임을 짚기.</a:t>
            </a:r>
          </a:p>
          <a:p>
            <a:r>
              <a:rPr lang="en-US" dirty="0"/>
              <a:t>Q. “영상 전체가 DB에 저장돼요?” → A. 보통 영상은 스토리지에, DB에는 프레임 파일 이름과 감지 결과 같은 ‘기록’만 저장합니다.</a:t>
            </a:r>
          </a:p>
          <a:p>
            <a:r>
              <a:rPr lang="en-US" dirty="0"/>
              <a:t>전환: “4/4 완성! 이제 내 앱을 열어봅시다.”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내 앱 확인 4분(95:00~). 허브 우상단 ‘내 앱’ → 폰 목업에서 4개 기능이 모두 켜졌는지 확인.</a:t>
            </a:r>
          </a:p>
          <a:p>
            <a:r>
              <a:rPr lang="en-US" dirty="0"/>
              <a:t>아직 못 끝낸 학생은 잠금 카드의 링크로 해당 STEP에 이동해 마저 완료 — 이 시간이 자연스러운 보충 시간.</a:t>
            </a:r>
          </a:p>
          <a:p>
            <a:r>
              <a:rPr lang="en-US" dirty="0"/>
              <a:t>▶ 정리 멘트: “여러분이 오늘 연결한 4개의 기술이 모여 이 앱 하나가 됐습니다. 세상의 모든 앱이 이런 식으로 여러 기술과 데이터의 조합입니다.”</a:t>
            </a:r>
          </a:p>
          <a:p>
            <a:r>
              <a:rPr lang="en-US" dirty="0"/>
              <a:t>전환: “이제 이 앱이 사람 없이 스스로 판단하게 만들어 봅시다” → 캡스톤.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실물 장비가 있을 때만 사용. 없으면 이 슬라이드 건너뛰기.</a:t>
            </a:r>
          </a:p>
          <a:p>
            <a:r>
              <a:rPr lang="en-US" dirty="0"/>
              <a:t>⏱ 3분. 보드의 온습도 센서(DHT11)·토양수분 센서·LED를 가리키고, LCD의 실시간 온습도를 확인시키기.</a:t>
            </a:r>
          </a:p>
          <a:p>
            <a:r>
              <a:rPr lang="en-US" dirty="0"/>
              <a:t>👀 실제 닥터그린 앱의 실시간 화면을 띄워 진짜 Supabase로 2초마다 전송됨을 시연 — 단, 앱 화면 갱신은 5초 주기라 화면은 5초에 한 번 바뀜(멈춘 것이 아님).</a:t>
            </a:r>
          </a:p>
          <a:p>
            <a:r>
              <a:rPr lang="en-US" dirty="0"/>
              <a:t>센서 LCD 수치와 앱 수치가 같음을 확인시키면 ‘가상 실습실 = 실물과 같은 구조’ 메시지가 완성됨.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마무리 10분(110:00~120:00) 시작. 기본은 허브의 ‘마무리 퀴즈’(인앱 7문항·자동 채점, 5분) — 이 슬라이드는 인앱 퀴즈가 어려울 때 쓰는 구두 예비 퀴즈.</a:t>
            </a:r>
          </a:p>
          <a:p>
            <a:r>
              <a:rPr lang="en-US" dirty="0"/>
              <a:t>문항 범위: 인증키 보안 / epoch / 수확체감·과적합 / 오탐 / ESP32 / 판단보류(신뢰도 75%) / 자동화 규칙 — 모두 오늘 다룬 내용.</a:t>
            </a:r>
          </a:p>
          <a:p>
            <a:r>
              <a:rPr lang="en-US" dirty="0"/>
              <a:t>교사는 순회하며 점수 확인. 3번 보충: 내려가는 값은 loss, 올라가는 값은 accuracy(정확도).</a:t>
            </a:r>
          </a:p>
          <a:p>
            <a:r>
              <a:rPr lang="en-US" dirty="0"/>
              <a:t>전환: “마지막으로, 오늘 여러분에게 말하지 않은 비밀이 하나 있습니다.” → 비밀 공개.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1분. ▶ 멘트: “오늘 버튼으로 해본 것을 코드로 직접 짜는 사람들이 바로 이 직업들입니다.”</a:t>
            </a:r>
          </a:p>
          <a:p>
            <a:r>
              <a:rPr lang="en-US" dirty="0"/>
              <a:t>각 직업을 오늘 활동과 연결해 한 번씩만 터치: 스마트팜 엔지니어(전체 시스템)·AI 개발자(STEP2 학습)·데이터 라벨러(STEP2 라벨링)·IoT 임베디드 개발자(STEP3 센서)·백엔드 개발자(데이터베이스).</a:t>
            </a:r>
          </a:p>
          <a:p>
            <a:r>
              <a:rPr lang="en-US" dirty="0"/>
              <a:t>전환: 마지막 슬라이드로 — 수고 인사.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▶ 종료 멘트: “스마트팜 앱 개발에 성공한 여러분, 수고하셨습니다!” — 박수로 마무리.</a:t>
            </a:r>
          </a:p>
          <a:p>
            <a:r>
              <a:rPr lang="en-US" dirty="0"/>
              <a:t>수업 후 정리: 각 학생 PC에서 ‘모든 방 초기화 (선생님용)’ 실행 — 데이터가 각 PC 브라우저에 저장되므로 교사 PC 한 대에서 전체 정리는 불가.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규칙 1~2명 발표. ‘왜’를 묻는 것이 핵심.</a:t>
            </a:r>
          </a:p>
          <a:p>
            <a:r>
              <a:rPr lang="en-US" dirty="0"/>
              <a:t>⏱ 8분. 목표: 규칙 3개 이상 + 서로 다른 데이터 3종 이상(화면 체크리스트로 확인) → 규칙 시뮬레이터로 가상 상황을 바꿔 발동 확인.</a:t>
            </a:r>
          </a:p>
          <a:p>
            <a:r>
              <a:rPr lang="en-US" dirty="0"/>
              <a:t>👀 물 주기 규칙은 공기 습도가 아니라 토양수분(‘40% 아래로 내려가면’)으로 만들게 안내 — 실제 농업의 관수 판단 기준은 흙의 수분(딸기 기준, 실제 닥터그린 앱과 같은 경계).</a:t>
            </a:r>
          </a:p>
          <a:p>
            <a:r>
              <a:rPr lang="en-US" dirty="0"/>
              <a:t>▶ 짚기: “방금 만든 것이 프로그래밍의 조건문(if→then)입니다. 사람이 없어도 스스로 판단하는 스마트팜 — 수업 처음 질문의 답이에요.”</a:t>
            </a:r>
          </a:p>
          <a:p>
            <a:r>
              <a:rPr lang="en-US" dirty="0"/>
              <a:t>Q. “조건 두 개를 동시에 걸 수 없나요?” → A. 실제 시스템은 AND/OR로 조건을 조합합니다 — 심화 모듈의 ‘결합 판정’이 그 예.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D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학생이 중간에 눈치챘더라도 여기서 공개 — ‘보안 원칙을 지키기 위한 설계’로 뒤집는 것이 포인트.</a:t>
            </a:r>
          </a:p>
          <a:p>
            <a:r>
              <a:rPr lang="en-US" dirty="0"/>
              <a:t>⏱ 2분. 공개 스크립트는 슬라이드 문구 그대로 — “오늘 배운 ‘키는 비밀’ 원칙을, 사실은 이 수업 자체가 처음부터 지키고 있었던 거예요.”</a:t>
            </a:r>
          </a:p>
          <a:p>
            <a:r>
              <a:rPr lang="en-US" dirty="0"/>
              <a:t>미리 눈치챈 학생이 있었다면: “그걸 발견했다면 이미 보안 감각이 있는 것”이라고 격려.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휴식 10분(55:00~65:00). 뒤처진 학생은 이 시간에 STEP 1~2를 보충하게 해도 좋음.</a:t>
            </a:r>
          </a:p>
          <a:p>
            <a:r>
              <a:rPr lang="en-US" dirty="0"/>
              <a:t>재개 신호: “다음은 IoT 센서 — 여러분 손가락이 온도계가 됩니다.”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※ 추가 차시용(약 25~30분, 실제 닥터그린 앱으로 진행) — 오늘 120분 수업에서는 예고만 하고 넘어갈 것.</a:t>
            </a:r>
          </a:p>
          <a:p>
            <a:r>
              <a:rPr lang="en-US" dirty="0"/>
              <a:t>▶ 예고 멘트: “오늘 배운 AI 비전과 센서, 이 두 데이터를 합치면 무슨 일이 생기는지는 다음 시간에 봅니다.”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(추가 차시) 문제 제기: 노란 잎 사진 한 장만 놓고 “이것만으로 원인을 맞혀보라” — 학생들이 못 맞히는 것이 포인트.</a:t>
            </a:r>
          </a:p>
          <a:p>
            <a:r>
              <a:rPr lang="en-US" dirty="0"/>
              <a:t>▶ 핵심 한 줄: “잎만 보면 노랗다는 것만, 흙만 보면 젖었다는 것만 안다. 둘을 합쳐야 비로소 ‘과습’이라고 말할 수 있다.”</a:t>
            </a:r>
          </a:p>
          <a:p>
            <a:r>
              <a:rPr lang="en-US" dirty="0"/>
              <a:t>오늘 수업에서는 이 한 줄만 던지고 다음 슬라이드로.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(추가 차시) 결합 판정 매트릭스: ‘황화’ 행을 가로로 읽기 — 흙 상태(젖음/적정/마름)만 바뀌어도 결론이 과습→영양·기타 의심→판단보류로 달라짐. 전체 조합표는 교안 §11.</a:t>
            </a:r>
          </a:p>
          <a:p>
            <a:r>
              <a:rPr lang="en-US" dirty="0"/>
              <a:t>예외도 언급: 역병·시들음병은 병해 방제가 먼저라 수분 판정보다 우선.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(추가 차시) 💧 수분 상태 판정 = 정해진 조합표(규칙) — 같은 입력이면 늘 같은 답. 🌿 AI 종합 소견 = 생성형 AI가 실제 수치를 인용해 사람의 말로 쓴 소견·근거·조치.</a:t>
            </a:r>
          </a:p>
          <a:p>
            <a:r>
              <a:rPr lang="en-US" dirty="0"/>
              <a:t>질문거리: “두 칸이 왜 따로 있을까?” — 규칙은 설명하기 쉽지만 딱딱하고, 생성은 유연하지만 검증이 필요.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(추가 차시) AI 신뢰 규칙(가드레일) 3가지: 모르면 판단보류 / 없는 값은 지어내지 않기(환각 방지) / 오래된 센서값은 밝히기(실제 앱 기준: 마지막 측정 후 10분 지나면 ‘오래된 값’ 표시).</a:t>
            </a:r>
          </a:p>
          <a:p>
            <a:r>
              <a:rPr lang="en-US" dirty="0"/>
              <a:t>오늘은 “AI를 믿을 수 있게 만드는 규칙도 사람이 정한다” 한 문장으로 예고만 하고 퀴즈로 전환.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2분. 질문: “가장 신기했던 스테이션과 그 이유는?” — 발표는 1명만 듣기.</a:t>
            </a:r>
          </a:p>
          <a:p>
            <a:r>
              <a:rPr lang="en-US" dirty="0"/>
              <a:t>나머지 전원은 활동지 B의 ‘오늘 한 줄 소감’ 칸을 채우게 할 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microsoft.com/office/2007/relationships/hdphoto" Target="../media/hdphoto2.wd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microsoft.com/office/2007/relationships/hdphoto" Target="../media/hdphoto2.wdp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microsoft.com/office/2007/relationships/hdphoto" Target="../media/hdphoto2.wdp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microsoft.com/office/2007/relationships/hdphoto" Target="../media/hdphoto2.wdp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microsoft.com/office/2007/relationships/hdphoto" Target="../media/hdphoto2.wdp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microsoft.com/office/2007/relationships/hdphoto" Target="../media/hdphoto2.wdp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microsoft.com/office/2007/relationships/hdphoto" Target="../media/hdphoto2.wdp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microsoft.com/office/2007/relationships/hdphoto" Target="../media/hdphoto2.wdp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microsoft.com/office/2007/relationships/hdphoto" Target="../media/hdphoto3.wdp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microsoft.com/office/2007/relationships/hdphoto" Target="../media/hdphoto2.wdp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microsoft.com/office/2007/relationships/hdphoto" Target="../media/hdphoto2.wdp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microsoft.com/office/2007/relationships/hdphoto" Target="../media/hdphoto2.wdp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microsoft.com/office/2007/relationships/hdphoto" Target="../media/hdphoto4.wdp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microsoft.com/office/2007/relationships/hdphoto" Target="../media/hdphoto5.wdp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microsoft.com/office/2007/relationships/hdphoto" Target="../media/hdphoto6.wdp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microsoft.com/office/2007/relationships/hdphoto" Target="../media/hdphoto2.wdp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microsoft.com/office/2007/relationships/hdphoto" Target="../media/hdphoto2.wdp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microsoft.com/office/2007/relationships/hdphoto" Target="../media/hdphoto2.wdp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microsoft.com/office/2007/relationships/hdphoto" Target="../media/hdphoto2.wdp"/></Relationships>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6.xml.rels><?xml version="1.0" encoding="UTF-8" standalone="yes"?>
<Relationships xmlns="http://schemas.openxmlformats.org/package/2006/relationships"><Relationship Id="rId3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microsoft.com/office/2007/relationships/hdphoto" Target="../media/hdphoto3.wdp"/><Relationship Id="rId2" Type="http://schemas.openxmlformats.org/officeDocument/2006/relationships/notesSlide" Target="../notesSlides/notesSlide29.xml"/></Relationships>
</file>

<file path=ppt/slides/_rels/slide27.xml.rels><?xml version="1.0" encoding="UTF-8" standalone="yes"?>
<Relationships xmlns="http://schemas.openxmlformats.org/package/2006/relationships"><Relationship Id="rId3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microsoft.com/office/2007/relationships/hdphoto" Target="../media/hdphoto2.wdp"/><Relationship Id="rId2" Type="http://schemas.openxmlformats.org/officeDocument/2006/relationships/notesSlide" Target="../notesSlides/notesSlide30.xml"/></Relationships>
</file>

<file path=ppt/slides/_rels/slide28.xml.rels><?xml version="1.0" encoding="UTF-8" standalone="yes"?>
<Relationships xmlns="http://schemas.openxmlformats.org/package/2006/relationships"><Relationship Id="rId3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microsoft.com/office/2007/relationships/hdphoto" Target="../media/hdphoto2.wdp"/><Relationship Id="rId2" Type="http://schemas.openxmlformats.org/officeDocument/2006/relationships/notesSlide" Target="../notesSlides/notesSlide31.xml"/></Relationships>
</file>

<file path=ppt/slides/_rels/slide29.xml.rels><?xml version="1.0" encoding="UTF-8" standalone="yes"?>
<Relationships xmlns="http://schemas.openxmlformats.org/package/2006/relationships"><Relationship Id="rId3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microsoft.com/office/2007/relationships/hdphoto" Target="../media/hdphoto2.wdp"/><Relationship Id="rId2" Type="http://schemas.openxmlformats.org/officeDocument/2006/relationships/notesSlide" Target="../notesSlides/notesSlide32.xml"/></Relationships>
</file>

<file path=ppt/slides/_rels/slide30.xml.rels><?xml version="1.0" encoding="UTF-8" standalone="yes"?>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4" Type="http://schemas.microsoft.com/office/2007/relationships/hdphoto" Target="../media/hdphoto4.wdp"/></Relationships>
</file>

<file path=ppt/slides/_rels/slide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32.xml.rels><?xml version="1.0" encoding="UTF-8" standalone="yes"?>
<Relationships xmlns="http://schemas.openxmlformats.org/package/2006/relationships"><Relationship Id="rId3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microsoft.com/office/2007/relationships/hdphoto" Target="../media/hdphoto2.wdp"/><Relationship Id="rId2" Type="http://schemas.openxmlformats.org/officeDocument/2006/relationships/notesSlide" Target="../notesSlides/notesSlide33.xml"/></Relationships>
</file>

<file path=ppt/slides/_rels/slide33.xml.rels><?xml version="1.0" encoding="UTF-8" standalone="yes"?>
<Relationships xmlns="http://schemas.openxmlformats.org/package/2006/relationships"><Relationship Id="rId3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microsoft.com/office/2007/relationships/hdphoto" Target="../media/hdphoto2.wdp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1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822960" y="1367458"/>
            <a:ext cx="768096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2E7D32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 스마트팜 가상 실습실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841248" y="2320263"/>
            <a:ext cx="1737360" cy="60350"/>
          </a:xfrm>
          <a:prstGeom prst="roundRect">
            <a:avLst>
              <a:gd name="adj" fmla="val 50000"/>
            </a:avLst>
          </a:prstGeom>
          <a:solidFill>
            <a:srgbClr val="66BB6A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7" name="Text 5"/>
          <p:cNvSpPr/>
          <p:nvPr/>
        </p:nvSpPr>
        <p:spPr>
          <a:xfrm>
            <a:off x="822960" y="2478454"/>
            <a:ext cx="7315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1B5E20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나만의 스마트팜 앱 완성하기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41248" y="41605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 err="1">
                <a:solidFill>
                  <a:srgbClr val="5B6B60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서울로봇인공지능과학관</a:t>
            </a:r>
            <a:endParaRPr lang="en-US" sz="14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398304D-4E05-F12F-2FD4-C0BD81A7DE3E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rgbClr val="264710">
                <a:tint val="45000"/>
                <a:satMod val="400000"/>
              </a:srgb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11500"/>
                    </a14:imgEffect>
                    <a14:imgEffect>
                      <a14:saturation sat="28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257402" y="4745119"/>
            <a:ext cx="629195" cy="367030"/>
          </a:xfrm>
          <a:prstGeom prst="rect">
            <a:avLst/>
          </a:prstGeom>
          <a:solidFill>
            <a:schemeClr val="accent6">
              <a:lumMod val="50000"/>
              <a:alpha val="0"/>
            </a:schemeClr>
          </a:solidFill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005840"/>
            <a:ext cx="7680960" cy="2331720"/>
          </a:xfrm>
          <a:prstGeom prst="roundRect">
            <a:avLst>
              <a:gd name="adj" fmla="val 3137"/>
            </a:avLst>
          </a:prstGeom>
          <a:solidFill>
            <a:srgbClr val="F1F8F2"/>
          </a:solidFill>
          <a:ln w="12700">
            <a:solidFill>
              <a:srgbClr val="D8E8DC"/>
            </a:solidFill>
            <a:prstDash val="solid"/>
          </a:ln>
          <a:effectLst>
            <a:outerShdw blurRad="88900" dist="38100" dir="5400000" algn="bl" rotWithShape="0">
              <a:srgbClr val="1B5E20">
                <a:alpha val="12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3" name="Text 1"/>
          <p:cNvSpPr/>
          <p:nvPr/>
        </p:nvSpPr>
        <p:spPr>
          <a:xfrm>
            <a:off x="914400" y="9144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0" b="1" dirty="0">
                <a:solidFill>
                  <a:srgbClr val="66BB6A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“</a:t>
            </a:r>
            <a:endParaRPr lang="en-US" sz="7000" dirty="0"/>
          </a:p>
        </p:txBody>
      </p:sp>
      <p:sp>
        <p:nvSpPr>
          <p:cNvPr id="4" name="Text 2"/>
          <p:cNvSpPr/>
          <p:nvPr/>
        </p:nvSpPr>
        <p:spPr>
          <a:xfrm>
            <a:off x="1005840" y="1234440"/>
            <a:ext cx="71323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2700" b="1" dirty="0">
                <a:solidFill>
                  <a:srgbClr val="1B5E20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농장에 사람이 없어도 온도를 재고,</a:t>
            </a:r>
            <a:endParaRPr lang="en-US" sz="27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2700" b="1" dirty="0">
                <a:solidFill>
                  <a:srgbClr val="1B5E20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병든 잎을 찾아내고, 물을 주는 농장이 있다면?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731519" y="36804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 err="1">
                <a:solidFill>
                  <a:srgbClr val="5B6B60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그</a:t>
            </a:r>
            <a:r>
              <a:rPr lang="ko-KR" altLang="en-US" sz="1800" dirty="0">
                <a:solidFill>
                  <a:srgbClr val="5B6B60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 농장이 바로</a:t>
            </a:r>
            <a:r>
              <a:rPr lang="en-US" sz="1800" dirty="0">
                <a:solidFill>
                  <a:srgbClr val="5B6B60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 </a:t>
            </a:r>
            <a:r>
              <a:rPr lang="en-US" sz="1800" b="1" dirty="0">
                <a:solidFill>
                  <a:srgbClr val="2E7D32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‘스마트팜’</a:t>
            </a:r>
            <a:r>
              <a:rPr lang="en-US" sz="1800" dirty="0">
                <a:solidFill>
                  <a:srgbClr val="5B6B60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입니다. </a:t>
            </a:r>
          </a:p>
          <a:p>
            <a:pPr marL="0" indent="0" algn="ctr">
              <a:buNone/>
            </a:pPr>
            <a:r>
              <a:rPr lang="ko-KR" altLang="en-US" dirty="0">
                <a:solidFill>
                  <a:srgbClr val="5B6B60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오늘 수업에서 </a:t>
            </a:r>
            <a:r>
              <a:rPr lang="ko-KR" altLang="en-US" dirty="0" err="1">
                <a:solidFill>
                  <a:srgbClr val="5B6B60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스마트팜을</a:t>
            </a:r>
            <a:r>
              <a:rPr lang="ko-KR" altLang="en-US" dirty="0">
                <a:solidFill>
                  <a:srgbClr val="5B6B60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 직접 만들어보도록 하겠습니다</a:t>
            </a:r>
            <a:r>
              <a:rPr lang="en-US" altLang="ko-KR" dirty="0">
                <a:solidFill>
                  <a:srgbClr val="5B6B60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!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94360" y="4828032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60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 스마트팜 가상 실습실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726680" y="4828032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60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2</a:t>
            </a:r>
            <a:endParaRPr lang="en-US" sz="9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A9D6B17-F042-EE52-B137-5C8401922645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rgbClr val="264710">
                <a:tint val="45000"/>
                <a:satMod val="400000"/>
              </a:srgb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11500"/>
                    </a14:imgEffect>
                    <a14:imgEffect>
                      <a14:saturation sat="28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257402" y="4745119"/>
            <a:ext cx="629195" cy="367030"/>
          </a:xfrm>
          <a:prstGeom prst="rect">
            <a:avLst/>
          </a:prstGeom>
          <a:solidFill>
            <a:schemeClr val="accent6">
              <a:lumMod val="50000"/>
              <a:alpha val="0"/>
            </a:schemeClr>
          </a:solidFill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29768"/>
            <a:ext cx="91440" cy="457200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3" name="Text 1"/>
          <p:cNvSpPr/>
          <p:nvPr/>
        </p:nvSpPr>
        <p:spPr>
          <a:xfrm>
            <a:off x="832104" y="384048"/>
            <a:ext cx="77175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B5E20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스마트팜은 4가지 기술의 조합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94360" y="1325880"/>
            <a:ext cx="3794760" cy="1463040"/>
          </a:xfrm>
          <a:prstGeom prst="roundRect">
            <a:avLst>
              <a:gd name="adj" fmla="val 5000"/>
            </a:avLst>
          </a:prstGeom>
          <a:solidFill>
            <a:srgbClr val="F1F8F2"/>
          </a:solidFill>
          <a:ln w="12700">
            <a:solidFill>
              <a:srgbClr val="D8E8DC"/>
            </a:solidFill>
            <a:prstDash val="solid"/>
          </a:ln>
          <a:effectLst>
            <a:outerShdw blurRad="88900" dist="38100" dir="5400000" algn="bl" rotWithShape="0">
              <a:srgbClr val="1B5E20">
                <a:alpha val="12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5" name="Shape 3"/>
          <p:cNvSpPr/>
          <p:nvPr/>
        </p:nvSpPr>
        <p:spPr>
          <a:xfrm>
            <a:off x="850392" y="1581912"/>
            <a:ext cx="457200" cy="457200"/>
          </a:xfrm>
          <a:prstGeom prst="ellipse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6" name="Text 4"/>
          <p:cNvSpPr/>
          <p:nvPr/>
        </p:nvSpPr>
        <p:spPr>
          <a:xfrm>
            <a:off x="850392" y="15819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463040" y="1545336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5E20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공공데이터 날씨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68680" y="210312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B6B60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정부 데이터로 우리 동네 날씨를 가져온다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54880" y="1325880"/>
            <a:ext cx="3794760" cy="1463040"/>
          </a:xfrm>
          <a:prstGeom prst="roundRect">
            <a:avLst>
              <a:gd name="adj" fmla="val 5000"/>
            </a:avLst>
          </a:prstGeom>
          <a:solidFill>
            <a:srgbClr val="F1F8F2"/>
          </a:solidFill>
          <a:ln w="12700">
            <a:solidFill>
              <a:srgbClr val="D8E8DC"/>
            </a:solidFill>
            <a:prstDash val="solid"/>
          </a:ln>
          <a:effectLst>
            <a:outerShdw blurRad="88900" dist="38100" dir="5400000" algn="bl" rotWithShape="0">
              <a:srgbClr val="1B5E20">
                <a:alpha val="12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10" name="Shape 8"/>
          <p:cNvSpPr/>
          <p:nvPr/>
        </p:nvSpPr>
        <p:spPr>
          <a:xfrm>
            <a:off x="5010912" y="1581912"/>
            <a:ext cx="457200" cy="457200"/>
          </a:xfrm>
          <a:prstGeom prst="ellipse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1" name="Text 9"/>
          <p:cNvSpPr/>
          <p:nvPr/>
        </p:nvSpPr>
        <p:spPr>
          <a:xfrm>
            <a:off x="5010912" y="15819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2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5623560" y="1545336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5E20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AI 비전 (YOLO)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5029200" y="210312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B6B60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사진으로 병든 잎을 스스로 찾아낸다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94360" y="3081528"/>
            <a:ext cx="3794760" cy="1463040"/>
          </a:xfrm>
          <a:prstGeom prst="roundRect">
            <a:avLst>
              <a:gd name="adj" fmla="val 5000"/>
            </a:avLst>
          </a:prstGeom>
          <a:solidFill>
            <a:srgbClr val="F1F8F2"/>
          </a:solidFill>
          <a:ln w="12700">
            <a:solidFill>
              <a:srgbClr val="D8E8DC"/>
            </a:solidFill>
            <a:prstDash val="solid"/>
          </a:ln>
          <a:effectLst>
            <a:outerShdw blurRad="88900" dist="38100" dir="5400000" algn="bl" rotWithShape="0">
              <a:srgbClr val="1B5E20">
                <a:alpha val="12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15" name="Shape 13"/>
          <p:cNvSpPr/>
          <p:nvPr/>
        </p:nvSpPr>
        <p:spPr>
          <a:xfrm>
            <a:off x="850392" y="3337560"/>
            <a:ext cx="457200" cy="457200"/>
          </a:xfrm>
          <a:prstGeom prst="ellipse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6" name="Text 14"/>
          <p:cNvSpPr/>
          <p:nvPr/>
        </p:nvSpPr>
        <p:spPr>
          <a:xfrm>
            <a:off x="850392" y="3337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3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463040" y="3300984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5E20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IoT 센서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68680" y="3858768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B6B60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온도·습도를 실시간으로 잰다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754880" y="3081528"/>
            <a:ext cx="3794760" cy="1463040"/>
          </a:xfrm>
          <a:prstGeom prst="roundRect">
            <a:avLst>
              <a:gd name="adj" fmla="val 5000"/>
            </a:avLst>
          </a:prstGeom>
          <a:solidFill>
            <a:srgbClr val="F1F8F2"/>
          </a:solidFill>
          <a:ln w="12700">
            <a:solidFill>
              <a:srgbClr val="D8E8DC"/>
            </a:solidFill>
            <a:prstDash val="solid"/>
          </a:ln>
          <a:effectLst>
            <a:outerShdw blurRad="88900" dist="38100" dir="5400000" algn="bl" rotWithShape="0">
              <a:srgbClr val="1B5E20">
                <a:alpha val="12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20" name="Shape 18"/>
          <p:cNvSpPr/>
          <p:nvPr/>
        </p:nvSpPr>
        <p:spPr>
          <a:xfrm>
            <a:off x="5010912" y="3337560"/>
            <a:ext cx="457200" cy="457200"/>
          </a:xfrm>
          <a:prstGeom prst="ellipse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21" name="Text 19"/>
          <p:cNvSpPr/>
          <p:nvPr/>
        </p:nvSpPr>
        <p:spPr>
          <a:xfrm>
            <a:off x="5010912" y="3337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4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5623560" y="3300984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5E20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카메라 영상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5029200" y="3858768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B6B60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멀리 있는 농장을 실시간으로 본다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94360" y="4828032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60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 스마트팜 가상 실습실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726680" y="4828032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60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3</a:t>
            </a:r>
            <a:endParaRPr lang="en-US" sz="900" dirty="0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E824DEF8-4BE3-75E9-4CE6-95A6A6813128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rgbClr val="264710">
                <a:tint val="45000"/>
                <a:satMod val="400000"/>
              </a:srgb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11500"/>
                    </a14:imgEffect>
                    <a14:imgEffect>
                      <a14:saturation sat="28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257402" y="4745119"/>
            <a:ext cx="629195" cy="367030"/>
          </a:xfrm>
          <a:prstGeom prst="rect">
            <a:avLst/>
          </a:prstGeom>
          <a:solidFill>
            <a:schemeClr val="accent6">
              <a:lumMod val="50000"/>
              <a:alpha val="0"/>
            </a:schemeClr>
          </a:solidFill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29768"/>
            <a:ext cx="91440" cy="457200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3" name="Text 1"/>
          <p:cNvSpPr/>
          <p:nvPr/>
        </p:nvSpPr>
        <p:spPr>
          <a:xfrm>
            <a:off x="832104" y="384048"/>
            <a:ext cx="77175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B5E20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4개를 연결하면 내 앱이 완성됩니다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94360" y="1325880"/>
            <a:ext cx="7955280" cy="822960"/>
          </a:xfrm>
          <a:prstGeom prst="roundRect">
            <a:avLst>
              <a:gd name="adj" fmla="val 8889"/>
            </a:avLst>
          </a:prstGeom>
          <a:solidFill>
            <a:srgbClr val="F1F8F2"/>
          </a:solidFill>
          <a:ln w="12700">
            <a:solidFill>
              <a:srgbClr val="D8E8DC"/>
            </a:solidFill>
            <a:prstDash val="solid"/>
          </a:ln>
          <a:effectLst>
            <a:outerShdw blurRad="88900" dist="38100" dir="5400000" algn="bl" rotWithShape="0">
              <a:srgbClr val="1B5E20">
                <a:alpha val="12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5" name="Shape 3"/>
          <p:cNvSpPr/>
          <p:nvPr/>
        </p:nvSpPr>
        <p:spPr>
          <a:xfrm>
            <a:off x="850392" y="1508760"/>
            <a:ext cx="457200" cy="457200"/>
          </a:xfrm>
          <a:prstGeom prst="ellipse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6" name="Text 4"/>
          <p:cNvSpPr/>
          <p:nvPr/>
        </p:nvSpPr>
        <p:spPr>
          <a:xfrm>
            <a:off x="850392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508760" y="132588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B6B60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방 번호(1~15)를 배정받아  </a:t>
            </a:r>
            <a:r>
              <a:rPr lang="en-US" sz="1600" b="1" dirty="0">
                <a:solidFill>
                  <a:srgbClr val="1B5E20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내 방에서 실습합니다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94360" y="2276856"/>
            <a:ext cx="7955280" cy="822960"/>
          </a:xfrm>
          <a:prstGeom prst="roundRect">
            <a:avLst>
              <a:gd name="adj" fmla="val 8889"/>
            </a:avLst>
          </a:prstGeom>
          <a:solidFill>
            <a:srgbClr val="F1F8F2"/>
          </a:solidFill>
          <a:ln w="12700">
            <a:solidFill>
              <a:srgbClr val="D8E8DC"/>
            </a:solidFill>
            <a:prstDash val="solid"/>
          </a:ln>
          <a:effectLst>
            <a:outerShdw blurRad="88900" dist="38100" dir="5400000" algn="bl" rotWithShape="0">
              <a:srgbClr val="1B5E20">
                <a:alpha val="12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9" name="Shape 7"/>
          <p:cNvSpPr/>
          <p:nvPr/>
        </p:nvSpPr>
        <p:spPr>
          <a:xfrm>
            <a:off x="850392" y="2459736"/>
            <a:ext cx="457200" cy="457200"/>
          </a:xfrm>
          <a:prstGeom prst="ellipse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0" name="Text 8"/>
          <p:cNvSpPr/>
          <p:nvPr/>
        </p:nvSpPr>
        <p:spPr>
          <a:xfrm>
            <a:off x="850392" y="24597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2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508760" y="2276856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B6B60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STEP을 하나 통과할 때마다  </a:t>
            </a:r>
            <a:r>
              <a:rPr lang="en-US" sz="1600" b="1" dirty="0">
                <a:solidFill>
                  <a:srgbClr val="1B5E20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내 앱의 잠긴 기능이 하나씩 켜집니다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94360" y="3227832"/>
            <a:ext cx="7955280" cy="822960"/>
          </a:xfrm>
          <a:prstGeom prst="roundRect">
            <a:avLst>
              <a:gd name="adj" fmla="val 8889"/>
            </a:avLst>
          </a:prstGeom>
          <a:solidFill>
            <a:srgbClr val="F1F8F2"/>
          </a:solidFill>
          <a:ln w="12700">
            <a:solidFill>
              <a:srgbClr val="D8E8DC"/>
            </a:solidFill>
            <a:prstDash val="solid"/>
          </a:ln>
          <a:effectLst>
            <a:outerShdw blurRad="88900" dist="38100" dir="5400000" algn="bl" rotWithShape="0">
              <a:srgbClr val="1B5E20">
                <a:alpha val="12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13" name="Shape 11"/>
          <p:cNvSpPr/>
          <p:nvPr/>
        </p:nvSpPr>
        <p:spPr>
          <a:xfrm>
            <a:off x="850392" y="3410712"/>
            <a:ext cx="457200" cy="457200"/>
          </a:xfrm>
          <a:prstGeom prst="ellipse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4" name="Text 12"/>
          <p:cNvSpPr/>
          <p:nvPr/>
        </p:nvSpPr>
        <p:spPr>
          <a:xfrm>
            <a:off x="850392" y="34107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3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508760" y="3227832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B6B60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4개(4/4)를 모두 연결하면  </a:t>
            </a:r>
            <a:r>
              <a:rPr lang="en-US" sz="1600" b="1" dirty="0">
                <a:solidFill>
                  <a:srgbClr val="1B5E20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나만의 스마트팜 앱이 완성됩니다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94360" y="4187952"/>
            <a:ext cx="7955280" cy="512064"/>
          </a:xfrm>
          <a:prstGeom prst="roundRect">
            <a:avLst>
              <a:gd name="adj" fmla="val 17857"/>
            </a:avLst>
          </a:prstGeom>
          <a:solidFill>
            <a:srgbClr val="2E7D32"/>
          </a:solidFill>
          <a:ln/>
          <a:effectLst>
            <a:outerShdw blurRad="88900" dist="38100" dir="5400000" algn="bl" rotWithShape="0">
              <a:srgbClr val="1B5E20">
                <a:alpha val="12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17" name="Text 15"/>
          <p:cNvSpPr/>
          <p:nvPr/>
        </p:nvSpPr>
        <p:spPr>
          <a:xfrm>
            <a:off x="868680" y="4187952"/>
            <a:ext cx="7406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450" b="1" dirty="0">
                <a:solidFill>
                  <a:srgbClr val="FFFFFF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지금부터 실습 시작해보도록 하겠습니다</a:t>
            </a:r>
            <a:r>
              <a:rPr lang="en-US" altLang="ko-KR" sz="1450" b="1" dirty="0">
                <a:solidFill>
                  <a:srgbClr val="FFFFFF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!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594360" y="4828032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60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 스마트팜 가상 실습실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726680" y="4828032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60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4</a:t>
            </a:r>
            <a:endParaRPr lang="en-US" sz="90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40AD41FD-E1A6-E482-E26D-6D1CD5673371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rgbClr val="264710">
                <a:tint val="45000"/>
                <a:satMod val="400000"/>
              </a:srgb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11500"/>
                    </a14:imgEffect>
                    <a14:imgEffect>
                      <a14:saturation sat="28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257402" y="4745119"/>
            <a:ext cx="629195" cy="367030"/>
          </a:xfrm>
          <a:prstGeom prst="rect">
            <a:avLst/>
          </a:prstGeom>
          <a:solidFill>
            <a:schemeClr val="accent6">
              <a:lumMod val="50000"/>
              <a:alpha val="0"/>
            </a:schemeClr>
          </a:solidFill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29768"/>
            <a:ext cx="91440" cy="457200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3" name="Text 1"/>
          <p:cNvSpPr/>
          <p:nvPr/>
        </p:nvSpPr>
        <p:spPr>
          <a:xfrm>
            <a:off x="832104" y="384048"/>
            <a:ext cx="77175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B5E20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이렇게 접속하세요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94360" y="1280160"/>
            <a:ext cx="2514600" cy="1691640"/>
          </a:xfrm>
          <a:prstGeom prst="roundRect">
            <a:avLst>
              <a:gd name="adj" fmla="val 4324"/>
            </a:avLst>
          </a:prstGeom>
          <a:solidFill>
            <a:srgbClr val="F1F8F2"/>
          </a:solidFill>
          <a:ln w="12700">
            <a:solidFill>
              <a:srgbClr val="D8E8DC"/>
            </a:solidFill>
            <a:prstDash val="solid"/>
          </a:ln>
          <a:effectLst>
            <a:outerShdw blurRad="88900" dist="38100" dir="5400000" algn="bl" rotWithShape="0">
              <a:srgbClr val="1B5E20">
                <a:alpha val="12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5" name="Shape 3"/>
          <p:cNvSpPr/>
          <p:nvPr/>
        </p:nvSpPr>
        <p:spPr>
          <a:xfrm>
            <a:off x="1623060" y="1481328"/>
            <a:ext cx="457200" cy="457200"/>
          </a:xfrm>
          <a:prstGeom prst="ellipse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6" name="Text 4"/>
          <p:cNvSpPr/>
          <p:nvPr/>
        </p:nvSpPr>
        <p:spPr>
          <a:xfrm>
            <a:off x="1623060" y="14813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94360" y="1993392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E7D32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접속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2304288"/>
            <a:ext cx="2240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B60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크롬에서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5B6B60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doctor-green-edu.vercel.app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310128" y="1280160"/>
            <a:ext cx="2514600" cy="1691640"/>
          </a:xfrm>
          <a:prstGeom prst="roundRect">
            <a:avLst>
              <a:gd name="adj" fmla="val 4324"/>
            </a:avLst>
          </a:prstGeom>
          <a:solidFill>
            <a:srgbClr val="F1F8F2"/>
          </a:solidFill>
          <a:ln w="12700">
            <a:solidFill>
              <a:srgbClr val="D8E8DC"/>
            </a:solidFill>
            <a:prstDash val="solid"/>
          </a:ln>
          <a:effectLst>
            <a:outerShdw blurRad="88900" dist="38100" dir="5400000" algn="bl" rotWithShape="0">
              <a:srgbClr val="1B5E20">
                <a:alpha val="12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10" name="Shape 8"/>
          <p:cNvSpPr/>
          <p:nvPr/>
        </p:nvSpPr>
        <p:spPr>
          <a:xfrm>
            <a:off x="4338828" y="1481328"/>
            <a:ext cx="457200" cy="457200"/>
          </a:xfrm>
          <a:prstGeom prst="ellipse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1" name="Text 9"/>
          <p:cNvSpPr/>
          <p:nvPr/>
        </p:nvSpPr>
        <p:spPr>
          <a:xfrm>
            <a:off x="4338828" y="14813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2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3310128" y="1993392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E7D32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방 선택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447288" y="2304288"/>
            <a:ext cx="2240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B60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내 방 번호 선택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5B6B60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(선생님이 알려준 번호)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025896" y="1280160"/>
            <a:ext cx="2514600" cy="1691640"/>
          </a:xfrm>
          <a:prstGeom prst="roundRect">
            <a:avLst>
              <a:gd name="adj" fmla="val 4324"/>
            </a:avLst>
          </a:prstGeom>
          <a:solidFill>
            <a:srgbClr val="F1F8F2"/>
          </a:solidFill>
          <a:ln w="12700">
            <a:solidFill>
              <a:srgbClr val="D8E8DC"/>
            </a:solidFill>
            <a:prstDash val="solid"/>
          </a:ln>
          <a:effectLst>
            <a:outerShdw blurRad="88900" dist="38100" dir="5400000" algn="bl" rotWithShape="0">
              <a:srgbClr val="1B5E20">
                <a:alpha val="12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15" name="Shape 13"/>
          <p:cNvSpPr/>
          <p:nvPr/>
        </p:nvSpPr>
        <p:spPr>
          <a:xfrm>
            <a:off x="7054596" y="1481328"/>
            <a:ext cx="457200" cy="457200"/>
          </a:xfrm>
          <a:prstGeom prst="ellipse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6" name="Text 14"/>
          <p:cNvSpPr/>
          <p:nvPr/>
        </p:nvSpPr>
        <p:spPr>
          <a:xfrm>
            <a:off x="7054596" y="14813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3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6025896" y="1993392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E7D32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초기화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163056" y="2304288"/>
            <a:ext cx="2240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B60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“이 방 초기화 (처음부터 다시)”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5B6B60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한 번 눌러 깨끗하게 시작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94360" y="3310128"/>
            <a:ext cx="7955280" cy="960120"/>
          </a:xfrm>
          <a:prstGeom prst="roundRect">
            <a:avLst>
              <a:gd name="adj" fmla="val 7619"/>
            </a:avLst>
          </a:prstGeom>
          <a:solidFill>
            <a:srgbClr val="F1F8F2"/>
          </a:solidFill>
          <a:ln w="15875">
            <a:solidFill>
              <a:srgbClr val="66BB6A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0" name="Text 18"/>
          <p:cNvSpPr/>
          <p:nvPr/>
        </p:nvSpPr>
        <p:spPr>
          <a:xfrm>
            <a:off x="850392" y="345643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7D32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관전 포인트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50392" y="3749040"/>
            <a:ext cx="74432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E2B22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버튼을 누를 때마다 화면 아래 ‘가상 Supabase’에 데이터가 한 줄씩 쌓이는 것을 지켜보세요.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94360" y="4828032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60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 스마트팜 가상 실습실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726680" y="4828032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60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5</a:t>
            </a:r>
            <a:endParaRPr lang="en-US" sz="90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3097F231-B428-49AE-C98E-9A258CE41E85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rgbClr val="264710">
                <a:tint val="45000"/>
                <a:satMod val="400000"/>
              </a:srgb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11500"/>
                    </a14:imgEffect>
                    <a14:imgEffect>
                      <a14:saturation sat="28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257402" y="4745119"/>
            <a:ext cx="629195" cy="367030"/>
          </a:xfrm>
          <a:prstGeom prst="rect">
            <a:avLst/>
          </a:prstGeom>
          <a:solidFill>
            <a:schemeClr val="accent6">
              <a:lumMod val="50000"/>
              <a:alpha val="0"/>
            </a:schemeClr>
          </a:solidFill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37760" y="91440"/>
            <a:ext cx="402336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6000" b="1" dirty="0">
                <a:solidFill>
                  <a:srgbClr val="3E9A44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01</a:t>
            </a:r>
            <a:endParaRPr lang="en-US" sz="26000" dirty="0"/>
          </a:p>
        </p:txBody>
      </p:sp>
      <p:sp>
        <p:nvSpPr>
          <p:cNvPr id="3" name="Text 1"/>
          <p:cNvSpPr/>
          <p:nvPr/>
        </p:nvSpPr>
        <p:spPr>
          <a:xfrm>
            <a:off x="822960" y="16002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kern="0" spc="400" dirty="0">
                <a:solidFill>
                  <a:srgbClr val="C8E6C9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STEP 01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822960" y="2148840"/>
            <a:ext cx="6035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공공데이터 날씨 연결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 rot="-1500000">
            <a:off x="1046074" y="3999586"/>
            <a:ext cx="482803" cy="261518"/>
          </a:xfrm>
          <a:prstGeom prst="ellipse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20" name="TimeBadge"/>
          <p:cNvSpPr/>
          <p:nvPr/>
        </p:nvSpPr>
        <p:spPr>
          <a:xfrm>
            <a:off x="822960" y="345948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1B5E2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8E6C9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⏱ 15분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29768"/>
            <a:ext cx="91440" cy="457200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3" name="Text 1"/>
          <p:cNvSpPr/>
          <p:nvPr/>
        </p:nvSpPr>
        <p:spPr>
          <a:xfrm>
            <a:off x="832104" y="384048"/>
            <a:ext cx="77175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B5E20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진짜 데이터는 ‘열쇠’로 여는 문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94360" y="1371600"/>
            <a:ext cx="3794760" cy="2468880"/>
          </a:xfrm>
          <a:prstGeom prst="roundRect">
            <a:avLst>
              <a:gd name="adj" fmla="val 2963"/>
            </a:avLst>
          </a:prstGeom>
          <a:solidFill>
            <a:srgbClr val="F1F8F2"/>
          </a:solidFill>
          <a:ln w="12700">
            <a:solidFill>
              <a:srgbClr val="D8E8DC"/>
            </a:solidFill>
            <a:prstDash val="solid"/>
          </a:ln>
          <a:effectLst>
            <a:outerShdw blurRad="88900" dist="38100" dir="5400000" algn="bl" rotWithShape="0">
              <a:srgbClr val="1B5E20">
                <a:alpha val="12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5" name="Shape 3"/>
          <p:cNvSpPr/>
          <p:nvPr/>
        </p:nvSpPr>
        <p:spPr>
          <a:xfrm>
            <a:off x="868680" y="1664208"/>
            <a:ext cx="566928" cy="566928"/>
          </a:xfrm>
          <a:prstGeom prst="ellipse">
            <a:avLst/>
          </a:prstGeom>
          <a:solidFill>
            <a:srgbClr val="A5D6A7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6" name="Text 4"/>
          <p:cNvSpPr/>
          <p:nvPr/>
        </p:nvSpPr>
        <p:spPr>
          <a:xfrm>
            <a:off x="868680" y="166420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978408" y="1773936"/>
            <a:ext cx="347472" cy="347472"/>
          </a:xfrm>
          <a:prstGeom prst="ellipse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8" name="Text 6"/>
          <p:cNvSpPr/>
          <p:nvPr/>
        </p:nvSpPr>
        <p:spPr>
          <a:xfrm>
            <a:off x="1600200" y="164592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5E20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공공데이터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86968" y="2423160"/>
            <a:ext cx="32095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1E2B22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정부·공공기관이 누구나 쓰도록 무료로 공개한 데이터.</a:t>
            </a:r>
            <a:endParaRPr lang="en-US" sz="14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1E2B22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예) 기상청 날씨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886968" y="3383280"/>
            <a:ext cx="32095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7D32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data.go.kr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754880" y="1371600"/>
            <a:ext cx="3794760" cy="2468880"/>
          </a:xfrm>
          <a:prstGeom prst="roundRect">
            <a:avLst>
              <a:gd name="adj" fmla="val 2963"/>
            </a:avLst>
          </a:prstGeom>
          <a:solidFill>
            <a:srgbClr val="F1F8F2"/>
          </a:solidFill>
          <a:ln w="12700">
            <a:solidFill>
              <a:srgbClr val="D8E8DC"/>
            </a:solidFill>
            <a:prstDash val="solid"/>
          </a:ln>
          <a:effectLst>
            <a:outerShdw blurRad="88900" dist="38100" dir="5400000" algn="bl" rotWithShape="0">
              <a:srgbClr val="1B5E20">
                <a:alpha val="12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12" name="Shape 10"/>
          <p:cNvSpPr/>
          <p:nvPr/>
        </p:nvSpPr>
        <p:spPr>
          <a:xfrm>
            <a:off x="5029200" y="1664208"/>
            <a:ext cx="566928" cy="566928"/>
          </a:xfrm>
          <a:prstGeom prst="ellipse">
            <a:avLst/>
          </a:prstGeom>
          <a:solidFill>
            <a:srgbClr val="A5D6A7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3" name="Text 11"/>
          <p:cNvSpPr/>
          <p:nvPr/>
        </p:nvSpPr>
        <p:spPr>
          <a:xfrm>
            <a:off x="5029200" y="166420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5760720" y="164592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5E20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인증키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5047488" y="2423160"/>
            <a:ext cx="32095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1E2B22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그 데이터를 쓸 자격을 증명하는</a:t>
            </a:r>
            <a:endParaRPr lang="en-US" sz="14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1E2B22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열쇠 문자열. 발급받아 사용합니다.</a:t>
            </a:r>
            <a:endParaRPr lang="en-US" sz="1450" dirty="0"/>
          </a:p>
          <a:p>
            <a:pPr marL="0" indent="0">
              <a:lnSpc>
                <a:spcPct val="110000"/>
              </a:lnSpc>
              <a:spcBef>
                <a:spcPts val="600"/>
              </a:spcBef>
              <a:buNone/>
            </a:pPr>
            <a:r>
              <a:rPr lang="en-US" sz="1250" b="1" dirty="0">
                <a:solidFill>
                  <a:srgbClr val="2E7D32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열쇠는 비밀번호처럼! 남과 공유하거나 코드에 올리지 않기</a:t>
            </a:r>
            <a:endParaRPr lang="en-US" sz="1250" b="1" dirty="0"/>
          </a:p>
        </p:txBody>
      </p:sp>
      <p:sp>
        <p:nvSpPr>
          <p:cNvPr id="18" name="Text 16"/>
          <p:cNvSpPr/>
          <p:nvPr/>
        </p:nvSpPr>
        <p:spPr>
          <a:xfrm>
            <a:off x="594360" y="4828032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60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 스마트팜 가상 실습실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726680" y="4828032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60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7</a:t>
            </a:r>
            <a:endParaRPr lang="en-US" sz="90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6C3E6FE6-1248-4F41-400B-60FE25E7B7B1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rgbClr val="264710">
                <a:tint val="45000"/>
                <a:satMod val="400000"/>
              </a:srgb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11500"/>
                    </a14:imgEffect>
                    <a14:imgEffect>
                      <a14:saturation sat="28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257402" y="4745119"/>
            <a:ext cx="629195" cy="367030"/>
          </a:xfrm>
          <a:prstGeom prst="rect">
            <a:avLst/>
          </a:prstGeom>
          <a:solidFill>
            <a:schemeClr val="accent6">
              <a:lumMod val="50000"/>
              <a:alpha val="0"/>
            </a:schemeClr>
          </a:solidFill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29768"/>
            <a:ext cx="91440" cy="457200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3" name="Text 1"/>
          <p:cNvSpPr/>
          <p:nvPr/>
        </p:nvSpPr>
        <p:spPr>
          <a:xfrm>
            <a:off x="832104" y="384048"/>
            <a:ext cx="77175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B5E20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인증키를 넣으면 잠긴 기능이 켜집니다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94360" y="1417320"/>
            <a:ext cx="2514600" cy="2194560"/>
          </a:xfrm>
          <a:prstGeom prst="roundRect">
            <a:avLst>
              <a:gd name="adj" fmla="val 3333"/>
            </a:avLst>
          </a:prstGeom>
          <a:solidFill>
            <a:srgbClr val="F1F8F2"/>
          </a:solidFill>
          <a:ln w="12700">
            <a:solidFill>
              <a:srgbClr val="D8E8DC"/>
            </a:solidFill>
            <a:prstDash val="solid"/>
          </a:ln>
          <a:effectLst>
            <a:outerShdw blurRad="88900" dist="38100" dir="5400000" algn="bl" rotWithShape="0">
              <a:srgbClr val="1B5E20">
                <a:alpha val="12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5" name="Shape 3"/>
          <p:cNvSpPr/>
          <p:nvPr/>
        </p:nvSpPr>
        <p:spPr>
          <a:xfrm>
            <a:off x="850392" y="1618488"/>
            <a:ext cx="914400" cy="329184"/>
          </a:xfrm>
          <a:prstGeom prst="roundRect">
            <a:avLst>
              <a:gd name="adj" fmla="val 50000"/>
            </a:avLst>
          </a:prstGeom>
          <a:solidFill>
            <a:srgbClr val="C9CFC9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6" name="Text 4"/>
          <p:cNvSpPr/>
          <p:nvPr/>
        </p:nvSpPr>
        <p:spPr>
          <a:xfrm>
            <a:off x="850392" y="1618488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A544C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잠김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13816" y="2075688"/>
            <a:ext cx="20756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B22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날씨 카드가 잠김 상태.</a:t>
            </a:r>
            <a:endParaRPr lang="en-US" sz="1250" dirty="0"/>
          </a:p>
          <a:p>
            <a:pPr marL="0" indent="0">
              <a:lnSpc>
                <a:spcPct val="105000"/>
              </a:lnSpc>
              <a:buNone/>
            </a:pPr>
            <a:endParaRPr lang="en-US" sz="12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B22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“아직 인증키가 없어서 날씨 기능이 작동하지 않아요”</a:t>
            </a:r>
            <a:endParaRPr lang="en-US" sz="1250" dirty="0"/>
          </a:p>
          <a:p>
            <a:pPr marL="0" indent="0">
              <a:lnSpc>
                <a:spcPct val="105000"/>
              </a:lnSpc>
              <a:buNone/>
            </a:pPr>
            <a:endParaRPr lang="en-US" sz="12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B22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버튼은 회색, 눌리지 않음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145536" y="2350008"/>
            <a:ext cx="384048" cy="329184"/>
          </a:xfrm>
          <a:prstGeom prst="rightArrow">
            <a:avLst/>
          </a:prstGeom>
          <a:solidFill>
            <a:srgbClr val="66BB6A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9" name="Shape 7"/>
          <p:cNvSpPr/>
          <p:nvPr/>
        </p:nvSpPr>
        <p:spPr>
          <a:xfrm>
            <a:off x="3529584" y="1417320"/>
            <a:ext cx="2514600" cy="2194560"/>
          </a:xfrm>
          <a:prstGeom prst="roundRect">
            <a:avLst>
              <a:gd name="adj" fmla="val 3333"/>
            </a:avLst>
          </a:prstGeom>
          <a:solidFill>
            <a:srgbClr val="F1F8F2"/>
          </a:solidFill>
          <a:ln w="12700">
            <a:solidFill>
              <a:srgbClr val="D8E8DC"/>
            </a:solidFill>
            <a:prstDash val="solid"/>
          </a:ln>
          <a:effectLst>
            <a:outerShdw blurRad="88900" dist="38100" dir="5400000" algn="bl" rotWithShape="0">
              <a:srgbClr val="1B5E20">
                <a:alpha val="12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10" name="Text 8"/>
          <p:cNvSpPr/>
          <p:nvPr/>
        </p:nvSpPr>
        <p:spPr>
          <a:xfrm>
            <a:off x="3749040" y="1600200"/>
            <a:ext cx="2075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7D32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진행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767328" y="1984248"/>
            <a:ext cx="2057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E2B22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인증키 붙여넣기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E2B22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“인증키 저장” 클릭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E2B22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“확인 중…” 약 1초 대기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E2B22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“저장된 인증키” 표시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080760" y="2350008"/>
            <a:ext cx="384048" cy="329184"/>
          </a:xfrm>
          <a:prstGeom prst="rightArrow">
            <a:avLst/>
          </a:prstGeom>
          <a:solidFill>
            <a:srgbClr val="66BB6A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3" name="Shape 11"/>
          <p:cNvSpPr/>
          <p:nvPr/>
        </p:nvSpPr>
        <p:spPr>
          <a:xfrm>
            <a:off x="6464808" y="1417320"/>
            <a:ext cx="2514600" cy="2194560"/>
          </a:xfrm>
          <a:prstGeom prst="roundRect">
            <a:avLst>
              <a:gd name="adj" fmla="val 3333"/>
            </a:avLst>
          </a:prstGeom>
          <a:solidFill>
            <a:srgbClr val="E7F4E9"/>
          </a:solidFill>
          <a:ln w="12700">
            <a:solidFill>
              <a:srgbClr val="D8E8DC"/>
            </a:solidFill>
            <a:prstDash val="solid"/>
          </a:ln>
          <a:effectLst>
            <a:outerShdw blurRad="88900" dist="38100" dir="5400000" algn="bl" rotWithShape="0">
              <a:srgbClr val="1B5E20">
                <a:alpha val="12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14" name="Shape 12"/>
          <p:cNvSpPr/>
          <p:nvPr/>
        </p:nvSpPr>
        <p:spPr>
          <a:xfrm>
            <a:off x="6720840" y="1618488"/>
            <a:ext cx="914400" cy="329184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5" name="Text 13"/>
          <p:cNvSpPr/>
          <p:nvPr/>
        </p:nvSpPr>
        <p:spPr>
          <a:xfrm>
            <a:off x="6720840" y="1618488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켜짐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684264" y="2075688"/>
            <a:ext cx="20756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B5E20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날씨 카드가</a:t>
            </a:r>
            <a:endParaRPr lang="en-US" sz="12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B5E20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‘잠김’에서 ‘켜짐’으로</a:t>
            </a:r>
            <a:endParaRPr lang="en-US" sz="12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B5E20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살아납니다.</a:t>
            </a:r>
            <a:endParaRPr lang="en-US" sz="1250" dirty="0"/>
          </a:p>
          <a:p>
            <a:pPr marL="0" indent="0">
              <a:lnSpc>
                <a:spcPct val="105000"/>
              </a:lnSpc>
              <a:buNone/>
            </a:pPr>
            <a:endParaRPr lang="en-US" sz="12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B5E20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날씨 기능 사용 가능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94360" y="4114800"/>
            <a:ext cx="7955280" cy="512064"/>
          </a:xfrm>
          <a:prstGeom prst="roundRect">
            <a:avLst>
              <a:gd name="adj" fmla="val 17857"/>
            </a:avLst>
          </a:prstGeom>
          <a:solidFill>
            <a:srgbClr val="2E7D32"/>
          </a:solidFill>
          <a:ln/>
          <a:effectLst>
            <a:outerShdw blurRad="88900" dist="38100" dir="5400000" algn="bl" rotWithShape="0">
              <a:srgbClr val="1B5E20">
                <a:alpha val="12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18" name="Text 16"/>
          <p:cNvSpPr/>
          <p:nvPr/>
        </p:nvSpPr>
        <p:spPr>
          <a:xfrm>
            <a:off x="868680" y="4114800"/>
            <a:ext cx="7406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인증 = 문을 여는 열쇠. 넣기 전과 후를 꼭 비교해 보세요.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594360" y="4828032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60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 스마트팜 가상 실습실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726680" y="4828032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60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8</a:t>
            </a:r>
            <a:endParaRPr lang="en-US" sz="90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EDA6F4B4-B849-6B61-5509-2C417B353BD8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rgbClr val="264710">
                <a:tint val="45000"/>
                <a:satMod val="400000"/>
              </a:srgb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11500"/>
                    </a14:imgEffect>
                    <a14:imgEffect>
                      <a14:saturation sat="28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257402" y="4745119"/>
            <a:ext cx="629195" cy="367030"/>
          </a:xfrm>
          <a:prstGeom prst="rect">
            <a:avLst/>
          </a:prstGeom>
          <a:solidFill>
            <a:schemeClr val="accent6">
              <a:lumMod val="50000"/>
              <a:alpha val="0"/>
            </a:schemeClr>
          </a:solidFill>
        </p:spPr>
      </p:pic>
      <p:sp>
        <p:nvSpPr>
          <p:cNvPr id="22" name="Text 21"/>
          <p:cNvSpPr/>
          <p:nvPr/>
        </p:nvSpPr>
        <p:spPr>
          <a:xfrm>
            <a:off x="594360" y="374040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B6B60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인증키는 선생님이 공유하는 견본 키를 사용하세요</a:t>
            </a:r>
            <a:endParaRPr lang="en-US" sz="1200" i="1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29768"/>
            <a:ext cx="91440" cy="457200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3" name="Text 1"/>
          <p:cNvSpPr/>
          <p:nvPr/>
        </p:nvSpPr>
        <p:spPr>
          <a:xfrm>
            <a:off x="832104" y="384048"/>
            <a:ext cx="77175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B5E20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내 위치의 진짜 날씨를 받아옵니다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1513024"/>
            <a:ext cx="5029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E2B22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“내 위치 날씨 가져오기” </a:t>
            </a:r>
            <a:r>
              <a:rPr lang="en-US" sz="1450" dirty="0" err="1">
                <a:solidFill>
                  <a:srgbClr val="1E2B22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클릭</a:t>
            </a:r>
            <a:r>
              <a:rPr lang="en-US" sz="1450" dirty="0">
                <a:solidFill>
                  <a:srgbClr val="1E2B22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 </a:t>
            </a:r>
            <a:r>
              <a:rPr lang="ko-KR" altLang="en-US" sz="1450" dirty="0">
                <a:solidFill>
                  <a:srgbClr val="1E2B22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                                                      </a:t>
            </a:r>
            <a:r>
              <a:rPr lang="en-US" sz="1450" dirty="0">
                <a:solidFill>
                  <a:srgbClr val="1E2B22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→ 위치 권한 </a:t>
            </a:r>
            <a:r>
              <a:rPr lang="en-US" sz="1450" dirty="0" err="1">
                <a:solidFill>
                  <a:srgbClr val="1E2B22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허용</a:t>
            </a:r>
            <a:r>
              <a:rPr lang="en-US" sz="1450" dirty="0">
                <a:solidFill>
                  <a:srgbClr val="1E2B22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 </a:t>
            </a:r>
            <a:r>
              <a:rPr lang="ko-KR" altLang="en-US" sz="1450" dirty="0">
                <a:solidFill>
                  <a:srgbClr val="1E2B22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                                                                      </a:t>
            </a:r>
            <a:r>
              <a:rPr lang="en-US" sz="1450" dirty="0">
                <a:solidFill>
                  <a:srgbClr val="1E2B22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→</a:t>
            </a:r>
            <a:r>
              <a:rPr lang="ko-KR" altLang="en-US" sz="1450" dirty="0">
                <a:solidFill>
                  <a:srgbClr val="1E2B22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 </a:t>
            </a:r>
            <a:r>
              <a:rPr lang="en-US" sz="1450" dirty="0" err="1">
                <a:solidFill>
                  <a:srgbClr val="1E2B22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실제</a:t>
            </a:r>
            <a:r>
              <a:rPr lang="en-US" sz="1450" dirty="0">
                <a:solidFill>
                  <a:srgbClr val="1E2B22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 기온·하늘 상태가 </a:t>
            </a:r>
            <a:r>
              <a:rPr lang="en-US" sz="1450" dirty="0" err="1">
                <a:solidFill>
                  <a:srgbClr val="1E2B22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화면에</a:t>
            </a:r>
            <a:r>
              <a:rPr lang="en-US" sz="1450" dirty="0">
                <a:solidFill>
                  <a:srgbClr val="1E2B22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 </a:t>
            </a:r>
            <a:r>
              <a:rPr lang="en-US" sz="1450" dirty="0" err="1">
                <a:solidFill>
                  <a:srgbClr val="1E2B22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표</a:t>
            </a:r>
            <a:r>
              <a:rPr lang="ko-KR" altLang="en-US" sz="1450" dirty="0">
                <a:solidFill>
                  <a:srgbClr val="1E2B22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시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85800" y="2423160"/>
            <a:ext cx="786384" cy="384048"/>
          </a:xfrm>
          <a:prstGeom prst="roundRect">
            <a:avLst>
              <a:gd name="adj" fmla="val 50000"/>
            </a:avLst>
          </a:prstGeom>
          <a:solidFill>
            <a:srgbClr val="F1F8F2"/>
          </a:solidFill>
          <a:ln w="12700">
            <a:solidFill>
              <a:srgbClr val="66BB6A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6" name="Text 4"/>
          <p:cNvSpPr/>
          <p:nvPr/>
        </p:nvSpPr>
        <p:spPr>
          <a:xfrm>
            <a:off x="685800" y="2423160"/>
            <a:ext cx="7863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5E20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서울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581912" y="2423160"/>
            <a:ext cx="786384" cy="384048"/>
          </a:xfrm>
          <a:prstGeom prst="roundRect">
            <a:avLst>
              <a:gd name="adj" fmla="val 50000"/>
            </a:avLst>
          </a:prstGeom>
          <a:solidFill>
            <a:srgbClr val="F1F8F2"/>
          </a:solidFill>
          <a:ln w="12700">
            <a:solidFill>
              <a:srgbClr val="66BB6A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8" name="Text 6"/>
          <p:cNvSpPr/>
          <p:nvPr/>
        </p:nvSpPr>
        <p:spPr>
          <a:xfrm>
            <a:off x="1581912" y="2423160"/>
            <a:ext cx="7863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5E20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대전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478024" y="2423160"/>
            <a:ext cx="786384" cy="384048"/>
          </a:xfrm>
          <a:prstGeom prst="roundRect">
            <a:avLst>
              <a:gd name="adj" fmla="val 50000"/>
            </a:avLst>
          </a:prstGeom>
          <a:solidFill>
            <a:srgbClr val="F1F8F2"/>
          </a:solidFill>
          <a:ln w="12700">
            <a:solidFill>
              <a:srgbClr val="66BB6A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0" name="Text 8"/>
          <p:cNvSpPr/>
          <p:nvPr/>
        </p:nvSpPr>
        <p:spPr>
          <a:xfrm>
            <a:off x="2478024" y="2423160"/>
            <a:ext cx="7863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5E20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광주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374136" y="2423160"/>
            <a:ext cx="786384" cy="384048"/>
          </a:xfrm>
          <a:prstGeom prst="roundRect">
            <a:avLst>
              <a:gd name="adj" fmla="val 50000"/>
            </a:avLst>
          </a:prstGeom>
          <a:solidFill>
            <a:srgbClr val="F1F8F2"/>
          </a:solidFill>
          <a:ln w="12700">
            <a:solidFill>
              <a:srgbClr val="66BB6A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2" name="Text 10"/>
          <p:cNvSpPr/>
          <p:nvPr/>
        </p:nvSpPr>
        <p:spPr>
          <a:xfrm>
            <a:off x="3374136" y="2423160"/>
            <a:ext cx="7863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5E20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부산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270248" y="2423160"/>
            <a:ext cx="786384" cy="384048"/>
          </a:xfrm>
          <a:prstGeom prst="roundRect">
            <a:avLst>
              <a:gd name="adj" fmla="val 50000"/>
            </a:avLst>
          </a:prstGeom>
          <a:solidFill>
            <a:srgbClr val="F1F8F2"/>
          </a:solidFill>
          <a:ln w="12700">
            <a:solidFill>
              <a:srgbClr val="66BB6A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4" name="Text 12"/>
          <p:cNvSpPr/>
          <p:nvPr/>
        </p:nvSpPr>
        <p:spPr>
          <a:xfrm>
            <a:off x="4270248" y="2423160"/>
            <a:ext cx="7863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5E20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제주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94360" y="3108960"/>
            <a:ext cx="5029200" cy="868680"/>
          </a:xfrm>
          <a:prstGeom prst="roundRect">
            <a:avLst>
              <a:gd name="adj" fmla="val 8421"/>
            </a:avLst>
          </a:prstGeom>
          <a:solidFill>
            <a:srgbClr val="E7F4E9"/>
          </a:solidFill>
          <a:ln w="12700">
            <a:solidFill>
              <a:srgbClr val="66BB6A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6" name="Text 14"/>
          <p:cNvSpPr/>
          <p:nvPr/>
        </p:nvSpPr>
        <p:spPr>
          <a:xfrm>
            <a:off x="822960" y="32461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7D32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weather_cache</a:t>
            </a:r>
            <a:r>
              <a:rPr lang="en-US" sz="1500" dirty="0">
                <a:solidFill>
                  <a:srgbClr val="1E2B22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 테이블에 새 줄 </a:t>
            </a:r>
            <a:r>
              <a:rPr lang="en-US" sz="1500" b="1" dirty="0">
                <a:solidFill>
                  <a:srgbClr val="2E7D32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INSERT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22960" y="35661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60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데이터가 한 줄씩 쌓입니다.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943600" y="1371600"/>
            <a:ext cx="2606040" cy="2606040"/>
          </a:xfrm>
          <a:prstGeom prst="roundRect">
            <a:avLst>
              <a:gd name="adj" fmla="val 2807"/>
            </a:avLst>
          </a:prstGeom>
          <a:solidFill>
            <a:srgbClr val="F1F8F2"/>
          </a:solidFill>
          <a:ln w="12700">
            <a:solidFill>
              <a:srgbClr val="D8E8DC"/>
            </a:solidFill>
            <a:prstDash val="solid"/>
          </a:ln>
          <a:effectLst>
            <a:outerShdw blurRad="88900" dist="38100" dir="5400000" algn="bl" rotWithShape="0">
              <a:srgbClr val="1B5E20">
                <a:alpha val="12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19" name="Text 17"/>
          <p:cNvSpPr/>
          <p:nvPr/>
        </p:nvSpPr>
        <p:spPr>
          <a:xfrm>
            <a:off x="6172200" y="160020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B6B60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여기까지 하면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172200" y="196596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B5E20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STEP 1 완료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327648" y="297180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7D32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진행도 1/4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327648" y="3246120"/>
            <a:ext cx="310896" cy="128016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23" name="Shape 21"/>
          <p:cNvSpPr/>
          <p:nvPr/>
        </p:nvSpPr>
        <p:spPr>
          <a:xfrm>
            <a:off x="6729984" y="3246120"/>
            <a:ext cx="310896" cy="128016"/>
          </a:xfrm>
          <a:prstGeom prst="roundRect">
            <a:avLst>
              <a:gd name="adj" fmla="val 50000"/>
            </a:avLst>
          </a:prstGeom>
          <a:solidFill>
            <a:srgbClr val="A5D6A7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24" name="Shape 22"/>
          <p:cNvSpPr/>
          <p:nvPr/>
        </p:nvSpPr>
        <p:spPr>
          <a:xfrm>
            <a:off x="7132320" y="3246120"/>
            <a:ext cx="310896" cy="128016"/>
          </a:xfrm>
          <a:prstGeom prst="roundRect">
            <a:avLst>
              <a:gd name="adj" fmla="val 50000"/>
            </a:avLst>
          </a:prstGeom>
          <a:solidFill>
            <a:srgbClr val="A5D6A7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25" name="Shape 23"/>
          <p:cNvSpPr/>
          <p:nvPr/>
        </p:nvSpPr>
        <p:spPr>
          <a:xfrm>
            <a:off x="7534656" y="3246120"/>
            <a:ext cx="310896" cy="128016"/>
          </a:xfrm>
          <a:prstGeom prst="roundRect">
            <a:avLst>
              <a:gd name="adj" fmla="val 50000"/>
            </a:avLst>
          </a:prstGeom>
          <a:solidFill>
            <a:srgbClr val="A5D6A7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26" name="Text 24"/>
          <p:cNvSpPr/>
          <p:nvPr/>
        </p:nvSpPr>
        <p:spPr>
          <a:xfrm>
            <a:off x="594360" y="4828032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60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 스마트팜 가상 실습실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726680" y="4828032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60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9</a:t>
            </a:r>
            <a:endParaRPr lang="en-US" sz="900" dirty="0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98801BF3-5A7B-7416-3F1A-6DFB3BA5F651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rgbClr val="264710">
                <a:tint val="45000"/>
                <a:satMod val="400000"/>
              </a:srgb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11500"/>
                    </a14:imgEffect>
                    <a14:imgEffect>
                      <a14:saturation sat="28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257402" y="4745119"/>
            <a:ext cx="629195" cy="367030"/>
          </a:xfrm>
          <a:prstGeom prst="rect">
            <a:avLst/>
          </a:prstGeom>
          <a:solidFill>
            <a:schemeClr val="accent6">
              <a:lumMod val="50000"/>
              <a:alpha val="0"/>
            </a:schemeClr>
          </a:solidFill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29768"/>
            <a:ext cx="91440" cy="457200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3" name="Text 1"/>
          <p:cNvSpPr/>
          <p:nvPr/>
        </p:nvSpPr>
        <p:spPr>
          <a:xfrm>
            <a:off x="832104" y="384048"/>
            <a:ext cx="77175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B5E20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여기를 꼭 보세요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94360" y="1417320"/>
            <a:ext cx="7955280" cy="896112"/>
          </a:xfrm>
          <a:prstGeom prst="roundRect">
            <a:avLst>
              <a:gd name="adj" fmla="val 8163"/>
            </a:avLst>
          </a:prstGeom>
          <a:solidFill>
            <a:srgbClr val="F1F8F2"/>
          </a:solidFill>
          <a:ln w="12700">
            <a:solidFill>
              <a:srgbClr val="D8E8DC"/>
            </a:solidFill>
            <a:prstDash val="solid"/>
          </a:ln>
          <a:effectLst>
            <a:outerShdw blurRad="88900" dist="38100" dir="5400000" algn="bl" rotWithShape="0">
              <a:srgbClr val="1B5E20">
                <a:alpha val="12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5" name="Shape 3"/>
          <p:cNvSpPr/>
          <p:nvPr/>
        </p:nvSpPr>
        <p:spPr>
          <a:xfrm>
            <a:off x="868680" y="1636776"/>
            <a:ext cx="457200" cy="457200"/>
          </a:xfrm>
          <a:prstGeom prst="ellipse">
            <a:avLst/>
          </a:prstGeom>
          <a:solidFill>
            <a:srgbClr val="66BB6A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6" name="Shape 4"/>
          <p:cNvSpPr/>
          <p:nvPr/>
        </p:nvSpPr>
        <p:spPr>
          <a:xfrm>
            <a:off x="978408" y="1874520"/>
            <a:ext cx="86868" cy="82296"/>
          </a:xfrm>
          <a:prstGeom prst="line">
            <a:avLst/>
          </a:prstGeom>
          <a:noFill/>
          <a:ln w="2794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" name="Shape 5"/>
          <p:cNvSpPr/>
          <p:nvPr/>
        </p:nvSpPr>
        <p:spPr>
          <a:xfrm flipV="1">
            <a:off x="1065276" y="1787652"/>
            <a:ext cx="160020" cy="169164"/>
          </a:xfrm>
          <a:prstGeom prst="line">
            <a:avLst/>
          </a:prstGeom>
          <a:noFill/>
          <a:ln w="2794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8" name="Text 6"/>
          <p:cNvSpPr/>
          <p:nvPr/>
        </p:nvSpPr>
        <p:spPr>
          <a:xfrm>
            <a:off x="1554480" y="1417320"/>
            <a:ext cx="67208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1B5E20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화면의 기온을 지금 창밖·핸드폰 날씨와 비교
</a:t>
            </a:r>
            <a:r>
              <a:rPr lang="en-US" sz="1300" dirty="0">
                <a:solidFill>
                  <a:srgbClr val="5B6B60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진짜 데이터임을 확인합니다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94360" y="2459736"/>
            <a:ext cx="7955280" cy="896112"/>
          </a:xfrm>
          <a:prstGeom prst="roundRect">
            <a:avLst>
              <a:gd name="adj" fmla="val 8163"/>
            </a:avLst>
          </a:prstGeom>
          <a:solidFill>
            <a:srgbClr val="F1F8F2"/>
          </a:solidFill>
          <a:ln w="12700">
            <a:solidFill>
              <a:srgbClr val="D8E8DC"/>
            </a:solidFill>
            <a:prstDash val="solid"/>
          </a:ln>
          <a:effectLst>
            <a:outerShdw blurRad="88900" dist="38100" dir="5400000" algn="bl" rotWithShape="0">
              <a:srgbClr val="1B5E20">
                <a:alpha val="12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10" name="Shape 8"/>
          <p:cNvSpPr/>
          <p:nvPr/>
        </p:nvSpPr>
        <p:spPr>
          <a:xfrm>
            <a:off x="868680" y="2679192"/>
            <a:ext cx="457200" cy="457200"/>
          </a:xfrm>
          <a:prstGeom prst="ellipse">
            <a:avLst/>
          </a:prstGeom>
          <a:solidFill>
            <a:srgbClr val="66BB6A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1" name="Shape 9"/>
          <p:cNvSpPr/>
          <p:nvPr/>
        </p:nvSpPr>
        <p:spPr>
          <a:xfrm>
            <a:off x="978408" y="2916936"/>
            <a:ext cx="86868" cy="82296"/>
          </a:xfrm>
          <a:prstGeom prst="line">
            <a:avLst/>
          </a:prstGeom>
          <a:noFill/>
          <a:ln w="2794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2" name="Shape 10"/>
          <p:cNvSpPr/>
          <p:nvPr/>
        </p:nvSpPr>
        <p:spPr>
          <a:xfrm flipV="1">
            <a:off x="1065276" y="2830068"/>
            <a:ext cx="160020" cy="169164"/>
          </a:xfrm>
          <a:prstGeom prst="line">
            <a:avLst/>
          </a:prstGeom>
          <a:noFill/>
          <a:ln w="2794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3" name="Text 11"/>
          <p:cNvSpPr/>
          <p:nvPr/>
        </p:nvSpPr>
        <p:spPr>
          <a:xfrm>
            <a:off x="1554480" y="2459736"/>
            <a:ext cx="67208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1B5E20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호출 주소의 nx, ny = 기상청 격자 좌표
</a:t>
            </a:r>
            <a:r>
              <a:rPr lang="en-US" sz="1300" dirty="0">
                <a:solidFill>
                  <a:srgbClr val="5B6B60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위경도를 지도 칸 번호로 바꾼 것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94360" y="3502152"/>
            <a:ext cx="7955280" cy="896112"/>
          </a:xfrm>
          <a:prstGeom prst="roundRect">
            <a:avLst>
              <a:gd name="adj" fmla="val 8163"/>
            </a:avLst>
          </a:prstGeom>
          <a:solidFill>
            <a:srgbClr val="F1F8F2"/>
          </a:solidFill>
          <a:ln w="12700">
            <a:solidFill>
              <a:srgbClr val="D8E8DC"/>
            </a:solidFill>
            <a:prstDash val="solid"/>
          </a:ln>
          <a:effectLst>
            <a:outerShdw blurRad="88900" dist="38100" dir="5400000" algn="bl" rotWithShape="0">
              <a:srgbClr val="1B5E20">
                <a:alpha val="12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15" name="Shape 13"/>
          <p:cNvSpPr/>
          <p:nvPr/>
        </p:nvSpPr>
        <p:spPr>
          <a:xfrm>
            <a:off x="868680" y="3721608"/>
            <a:ext cx="457200" cy="457200"/>
          </a:xfrm>
          <a:prstGeom prst="ellipse">
            <a:avLst/>
          </a:prstGeom>
          <a:solidFill>
            <a:srgbClr val="66BB6A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6" name="Shape 14"/>
          <p:cNvSpPr/>
          <p:nvPr/>
        </p:nvSpPr>
        <p:spPr>
          <a:xfrm>
            <a:off x="978408" y="3959352"/>
            <a:ext cx="86868" cy="82296"/>
          </a:xfrm>
          <a:prstGeom prst="line">
            <a:avLst/>
          </a:prstGeom>
          <a:noFill/>
          <a:ln w="2794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7" name="Shape 15"/>
          <p:cNvSpPr/>
          <p:nvPr/>
        </p:nvSpPr>
        <p:spPr>
          <a:xfrm flipV="1">
            <a:off x="1065276" y="3872484"/>
            <a:ext cx="160020" cy="169164"/>
          </a:xfrm>
          <a:prstGeom prst="line">
            <a:avLst/>
          </a:prstGeom>
          <a:noFill/>
          <a:ln w="2794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8" name="Text 16"/>
          <p:cNvSpPr/>
          <p:nvPr/>
        </p:nvSpPr>
        <p:spPr>
          <a:xfrm>
            <a:off x="1554480" y="3502152"/>
            <a:ext cx="67208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1B5E20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데이터가 테이블에 한 줄씩 쌓이는 구조
</a:t>
            </a:r>
            <a:r>
              <a:rPr lang="en-US" sz="1300" dirty="0">
                <a:solidFill>
                  <a:srgbClr val="5B6B60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실제 서비스와 똑같습니다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94360" y="4828032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60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 스마트팜 가상 실습실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726680" y="4828032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60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10</a:t>
            </a:r>
            <a:endParaRPr lang="en-US" sz="90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098590E6-ABB7-C7D1-8BC4-158883304520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rgbClr val="264710">
                <a:tint val="45000"/>
                <a:satMod val="400000"/>
              </a:srgb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11500"/>
                    </a14:imgEffect>
                    <a14:imgEffect>
                      <a14:saturation sat="28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257402" y="4745119"/>
            <a:ext cx="629195" cy="367030"/>
          </a:xfrm>
          <a:prstGeom prst="rect">
            <a:avLst/>
          </a:prstGeom>
          <a:solidFill>
            <a:schemeClr val="accent6">
              <a:lumMod val="50000"/>
              <a:alpha val="0"/>
            </a:schemeClr>
          </a:solidFill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0" y="260604"/>
            <a:ext cx="4606835" cy="46222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6000" b="1" dirty="0">
                <a:solidFill>
                  <a:srgbClr val="3E9A44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02</a:t>
            </a:r>
            <a:endParaRPr lang="en-US" sz="26000" dirty="0"/>
          </a:p>
        </p:txBody>
      </p:sp>
      <p:sp>
        <p:nvSpPr>
          <p:cNvPr id="3" name="Text 1"/>
          <p:cNvSpPr/>
          <p:nvPr/>
        </p:nvSpPr>
        <p:spPr>
          <a:xfrm>
            <a:off x="822960" y="16002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kern="0" spc="400" dirty="0">
                <a:solidFill>
                  <a:srgbClr val="C8E6C9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STEP 02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822960" y="2148840"/>
            <a:ext cx="6035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AI 비전(YOLO) 학습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 rot="-1500000">
            <a:off x="1046074" y="3999586"/>
            <a:ext cx="482803" cy="261518"/>
          </a:xfrm>
          <a:prstGeom prst="ellipse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20" name="TimeBadge"/>
          <p:cNvSpPr/>
          <p:nvPr/>
        </p:nvSpPr>
        <p:spPr>
          <a:xfrm>
            <a:off x="822960" y="345948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1B5E2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8E6C9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⏱ 30분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29768"/>
            <a:ext cx="91440" cy="457200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3" name="Text 1"/>
          <p:cNvSpPr/>
          <p:nvPr/>
        </p:nvSpPr>
        <p:spPr>
          <a:xfrm>
            <a:off x="832104" y="384048"/>
            <a:ext cx="77175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B5E20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AI 학습은 3단계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94360" y="1554480"/>
            <a:ext cx="2514600" cy="2194560"/>
          </a:xfrm>
          <a:prstGeom prst="roundRect">
            <a:avLst>
              <a:gd name="adj" fmla="val 3333"/>
            </a:avLst>
          </a:prstGeom>
          <a:solidFill>
            <a:srgbClr val="F1F8F2"/>
          </a:solidFill>
          <a:ln w="12700">
            <a:solidFill>
              <a:srgbClr val="D8E8DC"/>
            </a:solidFill>
            <a:prstDash val="solid"/>
          </a:ln>
          <a:effectLst>
            <a:outerShdw blurRad="88900" dist="38100" dir="5400000" algn="bl" rotWithShape="0">
              <a:srgbClr val="1B5E20">
                <a:alpha val="12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5" name="Shape 3"/>
          <p:cNvSpPr/>
          <p:nvPr/>
        </p:nvSpPr>
        <p:spPr>
          <a:xfrm>
            <a:off x="1577340" y="1828800"/>
            <a:ext cx="548640" cy="548640"/>
          </a:xfrm>
          <a:prstGeom prst="ellipse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6" name="Text 4"/>
          <p:cNvSpPr/>
          <p:nvPr/>
        </p:nvSpPr>
        <p:spPr>
          <a:xfrm>
            <a:off x="1577340" y="1828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77240" y="251460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B5E20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라벨링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22960" y="3035808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50" dirty="0">
                <a:solidFill>
                  <a:srgbClr val="5B6B60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사람이 ‘건강 / 병해 / 해충’ 정답을 사진에 표시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127248" y="2487168"/>
            <a:ext cx="365760" cy="329184"/>
          </a:xfrm>
          <a:prstGeom prst="rightArrow">
            <a:avLst/>
          </a:prstGeom>
          <a:solidFill>
            <a:srgbClr val="66BB6A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0" name="Shape 8"/>
          <p:cNvSpPr/>
          <p:nvPr/>
        </p:nvSpPr>
        <p:spPr>
          <a:xfrm>
            <a:off x="3465576" y="1554480"/>
            <a:ext cx="2514600" cy="2194560"/>
          </a:xfrm>
          <a:prstGeom prst="roundRect">
            <a:avLst>
              <a:gd name="adj" fmla="val 3333"/>
            </a:avLst>
          </a:prstGeom>
          <a:solidFill>
            <a:srgbClr val="F1F8F2"/>
          </a:solidFill>
          <a:ln w="12700">
            <a:solidFill>
              <a:srgbClr val="D8E8DC"/>
            </a:solidFill>
            <a:prstDash val="solid"/>
          </a:ln>
          <a:effectLst>
            <a:outerShdw blurRad="88900" dist="38100" dir="5400000" algn="bl" rotWithShape="0">
              <a:srgbClr val="1B5E20">
                <a:alpha val="12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11" name="Shape 9"/>
          <p:cNvSpPr/>
          <p:nvPr/>
        </p:nvSpPr>
        <p:spPr>
          <a:xfrm>
            <a:off x="4448556" y="1828800"/>
            <a:ext cx="548640" cy="548640"/>
          </a:xfrm>
          <a:prstGeom prst="ellipse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2" name="Text 10"/>
          <p:cNvSpPr/>
          <p:nvPr/>
        </p:nvSpPr>
        <p:spPr>
          <a:xfrm>
            <a:off x="4448556" y="1828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648456" y="251460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B5E20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학습 (epoch 반복)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3694176" y="3035808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50" dirty="0">
                <a:solidFill>
                  <a:srgbClr val="5B6B60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같은 데이터를 여러 번 보며 스스로 규칙을 익힘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998464" y="2487168"/>
            <a:ext cx="365760" cy="329184"/>
          </a:xfrm>
          <a:prstGeom prst="rightArrow">
            <a:avLst/>
          </a:prstGeom>
          <a:solidFill>
            <a:srgbClr val="66BB6A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6" name="Shape 14"/>
          <p:cNvSpPr/>
          <p:nvPr/>
        </p:nvSpPr>
        <p:spPr>
          <a:xfrm>
            <a:off x="6336792" y="1554480"/>
            <a:ext cx="2514600" cy="2194560"/>
          </a:xfrm>
          <a:prstGeom prst="roundRect">
            <a:avLst>
              <a:gd name="adj" fmla="val 3333"/>
            </a:avLst>
          </a:prstGeom>
          <a:solidFill>
            <a:srgbClr val="F1F8F2"/>
          </a:solidFill>
          <a:ln w="12700">
            <a:solidFill>
              <a:srgbClr val="D8E8DC"/>
            </a:solidFill>
            <a:prstDash val="solid"/>
          </a:ln>
          <a:effectLst>
            <a:outerShdw blurRad="88900" dist="38100" dir="5400000" algn="bl" rotWithShape="0">
              <a:srgbClr val="1B5E20">
                <a:alpha val="12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17" name="Shape 15"/>
          <p:cNvSpPr/>
          <p:nvPr/>
        </p:nvSpPr>
        <p:spPr>
          <a:xfrm>
            <a:off x="7319772" y="1828800"/>
            <a:ext cx="548640" cy="548640"/>
          </a:xfrm>
          <a:prstGeom prst="ellipse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8" name="Text 16"/>
          <p:cNvSpPr/>
          <p:nvPr/>
        </p:nvSpPr>
        <p:spPr>
          <a:xfrm>
            <a:off x="7319772" y="1828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519672" y="251460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B5E20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추론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6565392" y="3035808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50" dirty="0">
                <a:solidFill>
                  <a:srgbClr val="5B6B60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새 사진을 보고 스스로 판단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94360" y="4828032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60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 스마트팜 가상 실습실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726680" y="4828032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60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12</a:t>
            </a:r>
            <a:endParaRPr lang="en-US" sz="900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A9D1874D-5C5E-0CD4-893A-5A7BDAD075C4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rgbClr val="264710">
                <a:tint val="45000"/>
                <a:satMod val="400000"/>
              </a:srgb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11500"/>
                    </a14:imgEffect>
                    <a14:imgEffect>
                      <a14:saturation sat="28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257402" y="4745119"/>
            <a:ext cx="629195" cy="367030"/>
          </a:xfrm>
          <a:prstGeom prst="rect">
            <a:avLst/>
          </a:prstGeom>
          <a:solidFill>
            <a:schemeClr val="accent6">
              <a:lumMod val="50000"/>
              <a:alpha val="0"/>
            </a:schemeClr>
          </a:solidFill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29768"/>
            <a:ext cx="91440" cy="457200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3" name="Text 1"/>
          <p:cNvSpPr/>
          <p:nvPr/>
        </p:nvSpPr>
        <p:spPr>
          <a:xfrm>
            <a:off x="832104" y="384048"/>
            <a:ext cx="77175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B5E20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직접 학습시켜 봅시다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1417320"/>
            <a:ext cx="45720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2000"/>
              </a:lnSpc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1E2B22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“샘플 잎 사진 100장 불러오기” → 100장이 격자로 표시(라벨링되면 색 테두리)</a:t>
            </a:r>
            <a:endParaRPr lang="en-US" sz="1450" dirty="0"/>
          </a:p>
          <a:p>
            <a:pPr marL="342900" indent="-342900">
              <a:lnSpc>
                <a:spcPct val="112000"/>
              </a:lnSpc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1E2B22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“반복 횟수(epoch)” 슬라이더 조절 (5~30, 기본 15)</a:t>
            </a:r>
            <a:endParaRPr lang="en-US" sz="1450" dirty="0"/>
          </a:p>
          <a:p>
            <a:pPr marL="342900" indent="-342900">
              <a:lnSpc>
                <a:spcPct val="112000"/>
              </a:lnSpc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1E2B22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“학습 시작” → 라벨링 → 학습 → 준비 완료 (자동 진행)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349240" y="1280160"/>
            <a:ext cx="3154680" cy="2072878"/>
          </a:xfrm>
          <a:prstGeom prst="roundRect">
            <a:avLst>
              <a:gd name="adj" fmla="val 4324"/>
            </a:avLst>
          </a:prstGeom>
          <a:solidFill>
            <a:srgbClr val="F1F8F2"/>
          </a:solidFill>
          <a:ln w="12700">
            <a:solidFill>
              <a:srgbClr val="D8E8DC"/>
            </a:solidFill>
            <a:prstDash val="solid"/>
          </a:ln>
          <a:effectLst>
            <a:outerShdw blurRad="88900" dist="38100" dir="5400000" algn="bl" rotWithShape="0">
              <a:srgbClr val="1B5E20">
                <a:alpha val="12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6" name="Text 4"/>
          <p:cNvSpPr/>
          <p:nvPr/>
        </p:nvSpPr>
        <p:spPr>
          <a:xfrm>
            <a:off x="5486400" y="1344168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B6B60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샘플 잎 사진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532120" y="1673352"/>
            <a:ext cx="310896" cy="310896"/>
          </a:xfrm>
          <a:prstGeom prst="roundRect">
            <a:avLst>
              <a:gd name="adj" fmla="val 8824"/>
            </a:avLst>
          </a:prstGeom>
          <a:solidFill>
            <a:srgbClr val="DDEFE0"/>
          </a:solidFill>
          <a:ln w="22225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8" name="Shape 6"/>
          <p:cNvSpPr/>
          <p:nvPr/>
        </p:nvSpPr>
        <p:spPr>
          <a:xfrm>
            <a:off x="5907024" y="1673352"/>
            <a:ext cx="310896" cy="310896"/>
          </a:xfrm>
          <a:prstGeom prst="roundRect">
            <a:avLst>
              <a:gd name="adj" fmla="val 8824"/>
            </a:avLst>
          </a:prstGeom>
          <a:solidFill>
            <a:srgbClr val="DDEFE0"/>
          </a:solidFill>
          <a:ln w="9525">
            <a:solidFill>
              <a:srgbClr val="D8E8DC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9" name="Shape 7"/>
          <p:cNvSpPr/>
          <p:nvPr/>
        </p:nvSpPr>
        <p:spPr>
          <a:xfrm>
            <a:off x="6281928" y="1673352"/>
            <a:ext cx="310896" cy="310896"/>
          </a:xfrm>
          <a:prstGeom prst="roundRect">
            <a:avLst>
              <a:gd name="adj" fmla="val 8824"/>
            </a:avLst>
          </a:prstGeom>
          <a:solidFill>
            <a:srgbClr val="DDEFE0"/>
          </a:solidFill>
          <a:ln w="9525">
            <a:solidFill>
              <a:srgbClr val="D8E8DC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0" name="Shape 8"/>
          <p:cNvSpPr/>
          <p:nvPr/>
        </p:nvSpPr>
        <p:spPr>
          <a:xfrm>
            <a:off x="6656832" y="1673352"/>
            <a:ext cx="310896" cy="310896"/>
          </a:xfrm>
          <a:prstGeom prst="roundRect">
            <a:avLst>
              <a:gd name="adj" fmla="val 8824"/>
            </a:avLst>
          </a:prstGeom>
          <a:solidFill>
            <a:srgbClr val="DDEFE0"/>
          </a:solidFill>
          <a:ln w="22225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1" name="Shape 9"/>
          <p:cNvSpPr/>
          <p:nvPr/>
        </p:nvSpPr>
        <p:spPr>
          <a:xfrm>
            <a:off x="7031736" y="1673352"/>
            <a:ext cx="310896" cy="310896"/>
          </a:xfrm>
          <a:prstGeom prst="roundRect">
            <a:avLst>
              <a:gd name="adj" fmla="val 8824"/>
            </a:avLst>
          </a:prstGeom>
          <a:solidFill>
            <a:srgbClr val="DDEFE0"/>
          </a:solidFill>
          <a:ln w="9525">
            <a:solidFill>
              <a:srgbClr val="D8E8DC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2" name="Shape 10"/>
          <p:cNvSpPr/>
          <p:nvPr/>
        </p:nvSpPr>
        <p:spPr>
          <a:xfrm>
            <a:off x="7406640" y="1673352"/>
            <a:ext cx="310896" cy="310896"/>
          </a:xfrm>
          <a:prstGeom prst="roundRect">
            <a:avLst>
              <a:gd name="adj" fmla="val 8824"/>
            </a:avLst>
          </a:prstGeom>
          <a:solidFill>
            <a:srgbClr val="DDEFE0"/>
          </a:solidFill>
          <a:ln w="9525">
            <a:solidFill>
              <a:srgbClr val="D8E8DC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3" name="Shape 11"/>
          <p:cNvSpPr/>
          <p:nvPr/>
        </p:nvSpPr>
        <p:spPr>
          <a:xfrm>
            <a:off x="5532120" y="2048256"/>
            <a:ext cx="310896" cy="310896"/>
          </a:xfrm>
          <a:prstGeom prst="roundRect">
            <a:avLst>
              <a:gd name="adj" fmla="val 8824"/>
            </a:avLst>
          </a:prstGeom>
          <a:solidFill>
            <a:srgbClr val="DDEFE0"/>
          </a:solidFill>
          <a:ln w="22225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4" name="Shape 12"/>
          <p:cNvSpPr/>
          <p:nvPr/>
        </p:nvSpPr>
        <p:spPr>
          <a:xfrm>
            <a:off x="5907024" y="2048256"/>
            <a:ext cx="310896" cy="310896"/>
          </a:xfrm>
          <a:prstGeom prst="roundRect">
            <a:avLst>
              <a:gd name="adj" fmla="val 8824"/>
            </a:avLst>
          </a:prstGeom>
          <a:solidFill>
            <a:srgbClr val="DDEFE0"/>
          </a:solidFill>
          <a:ln w="9525">
            <a:solidFill>
              <a:srgbClr val="D8E8DC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5" name="Shape 13"/>
          <p:cNvSpPr/>
          <p:nvPr/>
        </p:nvSpPr>
        <p:spPr>
          <a:xfrm>
            <a:off x="6281928" y="2048256"/>
            <a:ext cx="310896" cy="310896"/>
          </a:xfrm>
          <a:prstGeom prst="roundRect">
            <a:avLst>
              <a:gd name="adj" fmla="val 8824"/>
            </a:avLst>
          </a:prstGeom>
          <a:solidFill>
            <a:srgbClr val="DDEFE0"/>
          </a:solidFill>
          <a:ln w="9525">
            <a:solidFill>
              <a:srgbClr val="D8E8DC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6" name="Shape 14"/>
          <p:cNvSpPr/>
          <p:nvPr/>
        </p:nvSpPr>
        <p:spPr>
          <a:xfrm>
            <a:off x="6656832" y="2048256"/>
            <a:ext cx="310896" cy="310896"/>
          </a:xfrm>
          <a:prstGeom prst="roundRect">
            <a:avLst>
              <a:gd name="adj" fmla="val 8824"/>
            </a:avLst>
          </a:prstGeom>
          <a:solidFill>
            <a:srgbClr val="DDEFE0"/>
          </a:solidFill>
          <a:ln w="22225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7" name="Shape 15"/>
          <p:cNvSpPr/>
          <p:nvPr/>
        </p:nvSpPr>
        <p:spPr>
          <a:xfrm>
            <a:off x="7031736" y="2048256"/>
            <a:ext cx="310896" cy="310896"/>
          </a:xfrm>
          <a:prstGeom prst="roundRect">
            <a:avLst>
              <a:gd name="adj" fmla="val 8824"/>
            </a:avLst>
          </a:prstGeom>
          <a:solidFill>
            <a:srgbClr val="DDEFE0"/>
          </a:solidFill>
          <a:ln w="9525">
            <a:solidFill>
              <a:srgbClr val="D8E8DC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8" name="Shape 16"/>
          <p:cNvSpPr/>
          <p:nvPr/>
        </p:nvSpPr>
        <p:spPr>
          <a:xfrm>
            <a:off x="7406640" y="2048256"/>
            <a:ext cx="310896" cy="310896"/>
          </a:xfrm>
          <a:prstGeom prst="roundRect">
            <a:avLst>
              <a:gd name="adj" fmla="val 8824"/>
            </a:avLst>
          </a:prstGeom>
          <a:solidFill>
            <a:srgbClr val="DDEFE0"/>
          </a:solidFill>
          <a:ln w="9525">
            <a:solidFill>
              <a:srgbClr val="D8E8DC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9" name="Shape 17"/>
          <p:cNvSpPr/>
          <p:nvPr/>
        </p:nvSpPr>
        <p:spPr>
          <a:xfrm>
            <a:off x="5532120" y="2423160"/>
            <a:ext cx="310896" cy="310896"/>
          </a:xfrm>
          <a:prstGeom prst="roundRect">
            <a:avLst>
              <a:gd name="adj" fmla="val 8824"/>
            </a:avLst>
          </a:prstGeom>
          <a:solidFill>
            <a:srgbClr val="DDEFE0"/>
          </a:solidFill>
          <a:ln w="22225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0" name="Shape 18"/>
          <p:cNvSpPr/>
          <p:nvPr/>
        </p:nvSpPr>
        <p:spPr>
          <a:xfrm>
            <a:off x="5907024" y="2423160"/>
            <a:ext cx="310896" cy="310896"/>
          </a:xfrm>
          <a:prstGeom prst="roundRect">
            <a:avLst>
              <a:gd name="adj" fmla="val 8824"/>
            </a:avLst>
          </a:prstGeom>
          <a:solidFill>
            <a:srgbClr val="DDEFE0"/>
          </a:solidFill>
          <a:ln w="9525">
            <a:solidFill>
              <a:srgbClr val="D8E8DC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1" name="Shape 19"/>
          <p:cNvSpPr/>
          <p:nvPr/>
        </p:nvSpPr>
        <p:spPr>
          <a:xfrm>
            <a:off x="6281928" y="2423160"/>
            <a:ext cx="310896" cy="310896"/>
          </a:xfrm>
          <a:prstGeom prst="roundRect">
            <a:avLst>
              <a:gd name="adj" fmla="val 8824"/>
            </a:avLst>
          </a:prstGeom>
          <a:solidFill>
            <a:srgbClr val="DDEFE0"/>
          </a:solidFill>
          <a:ln w="9525">
            <a:solidFill>
              <a:srgbClr val="D8E8DC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2" name="Shape 20"/>
          <p:cNvSpPr/>
          <p:nvPr/>
        </p:nvSpPr>
        <p:spPr>
          <a:xfrm>
            <a:off x="6656832" y="2423160"/>
            <a:ext cx="310896" cy="310896"/>
          </a:xfrm>
          <a:prstGeom prst="roundRect">
            <a:avLst>
              <a:gd name="adj" fmla="val 8824"/>
            </a:avLst>
          </a:prstGeom>
          <a:solidFill>
            <a:srgbClr val="DDEFE0"/>
          </a:solidFill>
          <a:ln w="22225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3" name="Shape 21"/>
          <p:cNvSpPr/>
          <p:nvPr/>
        </p:nvSpPr>
        <p:spPr>
          <a:xfrm>
            <a:off x="7031736" y="2423160"/>
            <a:ext cx="310896" cy="310896"/>
          </a:xfrm>
          <a:prstGeom prst="roundRect">
            <a:avLst>
              <a:gd name="adj" fmla="val 8824"/>
            </a:avLst>
          </a:prstGeom>
          <a:solidFill>
            <a:srgbClr val="DDEFE0"/>
          </a:solidFill>
          <a:ln w="9525">
            <a:solidFill>
              <a:srgbClr val="D8E8DC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4" name="Shape 22"/>
          <p:cNvSpPr/>
          <p:nvPr/>
        </p:nvSpPr>
        <p:spPr>
          <a:xfrm>
            <a:off x="7406640" y="2423160"/>
            <a:ext cx="310896" cy="310896"/>
          </a:xfrm>
          <a:prstGeom prst="roundRect">
            <a:avLst>
              <a:gd name="adj" fmla="val 8824"/>
            </a:avLst>
          </a:prstGeom>
          <a:solidFill>
            <a:srgbClr val="DDEFE0"/>
          </a:solidFill>
          <a:ln w="9525">
            <a:solidFill>
              <a:srgbClr val="D8E8DC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5" name="Shape 23"/>
          <p:cNvSpPr/>
          <p:nvPr/>
        </p:nvSpPr>
        <p:spPr>
          <a:xfrm>
            <a:off x="5532120" y="2798064"/>
            <a:ext cx="310896" cy="310896"/>
          </a:xfrm>
          <a:prstGeom prst="roundRect">
            <a:avLst>
              <a:gd name="adj" fmla="val 8824"/>
            </a:avLst>
          </a:prstGeom>
          <a:solidFill>
            <a:srgbClr val="DDEFE0"/>
          </a:solidFill>
          <a:ln w="22225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6" name="Shape 24"/>
          <p:cNvSpPr/>
          <p:nvPr/>
        </p:nvSpPr>
        <p:spPr>
          <a:xfrm>
            <a:off x="5907024" y="2798064"/>
            <a:ext cx="310896" cy="310896"/>
          </a:xfrm>
          <a:prstGeom prst="roundRect">
            <a:avLst>
              <a:gd name="adj" fmla="val 8824"/>
            </a:avLst>
          </a:prstGeom>
          <a:solidFill>
            <a:srgbClr val="DDEFE0"/>
          </a:solidFill>
          <a:ln w="9525">
            <a:solidFill>
              <a:srgbClr val="D8E8DC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7" name="Shape 25"/>
          <p:cNvSpPr/>
          <p:nvPr/>
        </p:nvSpPr>
        <p:spPr>
          <a:xfrm>
            <a:off x="6281928" y="2798064"/>
            <a:ext cx="310896" cy="310896"/>
          </a:xfrm>
          <a:prstGeom prst="roundRect">
            <a:avLst>
              <a:gd name="adj" fmla="val 8824"/>
            </a:avLst>
          </a:prstGeom>
          <a:solidFill>
            <a:srgbClr val="DDEFE0"/>
          </a:solidFill>
          <a:ln w="9525">
            <a:solidFill>
              <a:srgbClr val="D8E8DC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8" name="Shape 26"/>
          <p:cNvSpPr/>
          <p:nvPr/>
        </p:nvSpPr>
        <p:spPr>
          <a:xfrm>
            <a:off x="6656832" y="2798064"/>
            <a:ext cx="310896" cy="310896"/>
          </a:xfrm>
          <a:prstGeom prst="roundRect">
            <a:avLst>
              <a:gd name="adj" fmla="val 8824"/>
            </a:avLst>
          </a:prstGeom>
          <a:solidFill>
            <a:srgbClr val="DDEFE0"/>
          </a:solidFill>
          <a:ln w="22225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9" name="Shape 27"/>
          <p:cNvSpPr/>
          <p:nvPr/>
        </p:nvSpPr>
        <p:spPr>
          <a:xfrm>
            <a:off x="7031736" y="2798064"/>
            <a:ext cx="310896" cy="310896"/>
          </a:xfrm>
          <a:prstGeom prst="roundRect">
            <a:avLst>
              <a:gd name="adj" fmla="val 8824"/>
            </a:avLst>
          </a:prstGeom>
          <a:solidFill>
            <a:srgbClr val="DDEFE0"/>
          </a:solidFill>
          <a:ln w="9525">
            <a:solidFill>
              <a:srgbClr val="D8E8DC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0" name="Shape 28"/>
          <p:cNvSpPr/>
          <p:nvPr/>
        </p:nvSpPr>
        <p:spPr>
          <a:xfrm>
            <a:off x="7406640" y="2798064"/>
            <a:ext cx="310896" cy="310896"/>
          </a:xfrm>
          <a:prstGeom prst="roundRect">
            <a:avLst>
              <a:gd name="adj" fmla="val 8824"/>
            </a:avLst>
          </a:prstGeom>
          <a:solidFill>
            <a:srgbClr val="DDEFE0"/>
          </a:solidFill>
          <a:ln w="9525">
            <a:solidFill>
              <a:srgbClr val="D8E8DC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1" name="Text 29"/>
          <p:cNvSpPr/>
          <p:nvPr/>
        </p:nvSpPr>
        <p:spPr>
          <a:xfrm>
            <a:off x="5440680" y="3500714"/>
            <a:ext cx="2926080" cy="2615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B6B60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반복 횟수 (epoch)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440680" y="3819382"/>
            <a:ext cx="2926080" cy="90526"/>
          </a:xfrm>
          <a:prstGeom prst="roundRect">
            <a:avLst>
              <a:gd name="adj" fmla="val 50000"/>
            </a:avLst>
          </a:prstGeom>
          <a:solidFill>
            <a:srgbClr val="A5D6A7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33" name="Shape 31"/>
          <p:cNvSpPr/>
          <p:nvPr/>
        </p:nvSpPr>
        <p:spPr>
          <a:xfrm>
            <a:off x="5440680" y="3819382"/>
            <a:ext cx="1170432" cy="90526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34" name="Shape 32"/>
          <p:cNvSpPr/>
          <p:nvPr/>
        </p:nvSpPr>
        <p:spPr>
          <a:xfrm>
            <a:off x="6492240" y="3711026"/>
            <a:ext cx="237744" cy="26151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5" name="Text 33"/>
          <p:cNvSpPr/>
          <p:nvPr/>
        </p:nvSpPr>
        <p:spPr>
          <a:xfrm>
            <a:off x="5394960" y="3958828"/>
            <a:ext cx="365760" cy="241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60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5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428232" y="3958828"/>
            <a:ext cx="365760" cy="241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7D32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15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8046720" y="3958828"/>
            <a:ext cx="365760" cy="241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60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30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94360" y="4828032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60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 스마트팜 가상 실습실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7726680" y="4828032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60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13</a:t>
            </a:r>
            <a:endParaRPr lang="en-US" sz="900" dirty="0"/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C6306C7C-7F31-A969-8D60-B559860E894F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rgbClr val="264710">
                <a:tint val="45000"/>
                <a:satMod val="400000"/>
              </a:srgb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11500"/>
                    </a14:imgEffect>
                    <a14:imgEffect>
                      <a14:saturation sat="28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257402" y="4745119"/>
            <a:ext cx="629195" cy="367030"/>
          </a:xfrm>
          <a:prstGeom prst="rect">
            <a:avLst/>
          </a:prstGeom>
          <a:solidFill>
            <a:schemeClr val="accent6">
              <a:lumMod val="50000"/>
              <a:alpha val="0"/>
            </a:schemeClr>
          </a:solidFill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29768"/>
            <a:ext cx="91440" cy="457200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3" name="Text 1"/>
          <p:cNvSpPr/>
          <p:nvPr/>
        </p:nvSpPr>
        <p:spPr>
          <a:xfrm>
            <a:off x="832104" y="384048"/>
            <a:ext cx="77175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B5E20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학습의 정체 — loss는 내려가고 accuracy는 올라간다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417320" y="3406140"/>
            <a:ext cx="5212080" cy="0"/>
          </a:xfrm>
          <a:prstGeom prst="line">
            <a:avLst/>
          </a:prstGeom>
          <a:noFill/>
          <a:ln w="12700">
            <a:solidFill>
              <a:srgbClr val="E3EEE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Shape 3"/>
          <p:cNvSpPr/>
          <p:nvPr/>
        </p:nvSpPr>
        <p:spPr>
          <a:xfrm>
            <a:off x="1417320" y="2971800"/>
            <a:ext cx="5212080" cy="0"/>
          </a:xfrm>
          <a:prstGeom prst="line">
            <a:avLst/>
          </a:prstGeom>
          <a:noFill/>
          <a:ln w="12700">
            <a:solidFill>
              <a:srgbClr val="E3EEE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6" name="Shape 4"/>
          <p:cNvSpPr/>
          <p:nvPr/>
        </p:nvSpPr>
        <p:spPr>
          <a:xfrm>
            <a:off x="1417320" y="2537460"/>
            <a:ext cx="5212080" cy="0"/>
          </a:xfrm>
          <a:prstGeom prst="line">
            <a:avLst/>
          </a:prstGeom>
          <a:noFill/>
          <a:ln w="12700">
            <a:solidFill>
              <a:srgbClr val="E3EEE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" name="Shape 5"/>
          <p:cNvSpPr/>
          <p:nvPr/>
        </p:nvSpPr>
        <p:spPr>
          <a:xfrm>
            <a:off x="1417320" y="2103120"/>
            <a:ext cx="0" cy="1737360"/>
          </a:xfrm>
          <a:prstGeom prst="line">
            <a:avLst/>
          </a:prstGeom>
          <a:noFill/>
          <a:ln w="15875">
            <a:solidFill>
              <a:srgbClr val="5B6B60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8" name="Shape 6"/>
          <p:cNvSpPr/>
          <p:nvPr/>
        </p:nvSpPr>
        <p:spPr>
          <a:xfrm>
            <a:off x="1417320" y="3840480"/>
            <a:ext cx="5212080" cy="0"/>
          </a:xfrm>
          <a:prstGeom prst="line">
            <a:avLst/>
          </a:prstGeom>
          <a:noFill/>
          <a:ln w="15875">
            <a:solidFill>
              <a:srgbClr val="5B6B60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9" name="Shape 7"/>
          <p:cNvSpPr/>
          <p:nvPr/>
        </p:nvSpPr>
        <p:spPr>
          <a:xfrm>
            <a:off x="1417320" y="2155241"/>
            <a:ext cx="434340" cy="315045"/>
          </a:xfrm>
          <a:prstGeom prst="line">
            <a:avLst/>
          </a:prstGeom>
          <a:noFill/>
          <a:ln w="28575">
            <a:solidFill>
              <a:srgbClr val="5B6B60"/>
            </a:solidFill>
            <a:prstDash val="dash"/>
          </a:ln>
        </p:spPr>
        <p:txBody>
          <a:bodyPr/>
          <a:lstStyle/>
          <a:p>
            <a:endParaRPr lang="en-KR"/>
          </a:p>
        </p:txBody>
      </p:sp>
      <p:sp>
        <p:nvSpPr>
          <p:cNvPr id="10" name="Shape 8"/>
          <p:cNvSpPr/>
          <p:nvPr/>
        </p:nvSpPr>
        <p:spPr>
          <a:xfrm>
            <a:off x="1851660" y="2470286"/>
            <a:ext cx="434340" cy="251568"/>
          </a:xfrm>
          <a:prstGeom prst="line">
            <a:avLst/>
          </a:prstGeom>
          <a:noFill/>
          <a:ln w="28575">
            <a:solidFill>
              <a:srgbClr val="5B6B60"/>
            </a:solidFill>
            <a:prstDash val="dash"/>
          </a:ln>
        </p:spPr>
        <p:txBody>
          <a:bodyPr/>
          <a:lstStyle/>
          <a:p>
            <a:endParaRPr lang="en-KR"/>
          </a:p>
        </p:txBody>
      </p:sp>
      <p:sp>
        <p:nvSpPr>
          <p:cNvPr id="11" name="Shape 9"/>
          <p:cNvSpPr/>
          <p:nvPr/>
        </p:nvSpPr>
        <p:spPr>
          <a:xfrm>
            <a:off x="2286000" y="2721854"/>
            <a:ext cx="434340" cy="200881"/>
          </a:xfrm>
          <a:prstGeom prst="line">
            <a:avLst/>
          </a:prstGeom>
          <a:noFill/>
          <a:ln w="28575">
            <a:solidFill>
              <a:srgbClr val="5B6B60"/>
            </a:solidFill>
            <a:prstDash val="dash"/>
          </a:ln>
        </p:spPr>
        <p:txBody>
          <a:bodyPr/>
          <a:lstStyle/>
          <a:p>
            <a:endParaRPr lang="en-KR"/>
          </a:p>
        </p:txBody>
      </p:sp>
      <p:sp>
        <p:nvSpPr>
          <p:cNvPr id="12" name="Shape 10"/>
          <p:cNvSpPr/>
          <p:nvPr/>
        </p:nvSpPr>
        <p:spPr>
          <a:xfrm>
            <a:off x="2720340" y="2922736"/>
            <a:ext cx="434340" cy="160407"/>
          </a:xfrm>
          <a:prstGeom prst="line">
            <a:avLst/>
          </a:prstGeom>
          <a:noFill/>
          <a:ln w="28575">
            <a:solidFill>
              <a:srgbClr val="5B6B60"/>
            </a:solidFill>
            <a:prstDash val="dash"/>
          </a:ln>
        </p:spPr>
        <p:txBody>
          <a:bodyPr/>
          <a:lstStyle/>
          <a:p>
            <a:endParaRPr lang="en-KR"/>
          </a:p>
        </p:txBody>
      </p:sp>
      <p:sp>
        <p:nvSpPr>
          <p:cNvPr id="13" name="Shape 11"/>
          <p:cNvSpPr/>
          <p:nvPr/>
        </p:nvSpPr>
        <p:spPr>
          <a:xfrm>
            <a:off x="3154680" y="3083143"/>
            <a:ext cx="434340" cy="128088"/>
          </a:xfrm>
          <a:prstGeom prst="line">
            <a:avLst/>
          </a:prstGeom>
          <a:noFill/>
          <a:ln w="28575">
            <a:solidFill>
              <a:srgbClr val="5B6B60"/>
            </a:solidFill>
            <a:prstDash val="dash"/>
          </a:ln>
        </p:spPr>
        <p:txBody>
          <a:bodyPr/>
          <a:lstStyle/>
          <a:p>
            <a:endParaRPr lang="en-KR"/>
          </a:p>
        </p:txBody>
      </p:sp>
      <p:sp>
        <p:nvSpPr>
          <p:cNvPr id="14" name="Shape 12"/>
          <p:cNvSpPr/>
          <p:nvPr/>
        </p:nvSpPr>
        <p:spPr>
          <a:xfrm>
            <a:off x="3589020" y="3211230"/>
            <a:ext cx="434340" cy="102280"/>
          </a:xfrm>
          <a:prstGeom prst="line">
            <a:avLst/>
          </a:prstGeom>
          <a:noFill/>
          <a:ln w="28575">
            <a:solidFill>
              <a:srgbClr val="5B6B60"/>
            </a:solidFill>
            <a:prstDash val="dash"/>
          </a:ln>
        </p:spPr>
        <p:txBody>
          <a:bodyPr/>
          <a:lstStyle/>
          <a:p>
            <a:endParaRPr lang="en-KR"/>
          </a:p>
        </p:txBody>
      </p:sp>
      <p:sp>
        <p:nvSpPr>
          <p:cNvPr id="15" name="Shape 13"/>
          <p:cNvSpPr/>
          <p:nvPr/>
        </p:nvSpPr>
        <p:spPr>
          <a:xfrm>
            <a:off x="4023360" y="3313511"/>
            <a:ext cx="434340" cy="81672"/>
          </a:xfrm>
          <a:prstGeom prst="line">
            <a:avLst/>
          </a:prstGeom>
          <a:noFill/>
          <a:ln w="28575">
            <a:solidFill>
              <a:srgbClr val="5B6B60"/>
            </a:solidFill>
            <a:prstDash val="dash"/>
          </a:ln>
        </p:spPr>
        <p:txBody>
          <a:bodyPr/>
          <a:lstStyle/>
          <a:p>
            <a:endParaRPr lang="en-KR"/>
          </a:p>
        </p:txBody>
      </p:sp>
      <p:sp>
        <p:nvSpPr>
          <p:cNvPr id="16" name="Shape 14"/>
          <p:cNvSpPr/>
          <p:nvPr/>
        </p:nvSpPr>
        <p:spPr>
          <a:xfrm>
            <a:off x="4457700" y="3395183"/>
            <a:ext cx="434340" cy="65217"/>
          </a:xfrm>
          <a:prstGeom prst="line">
            <a:avLst/>
          </a:prstGeom>
          <a:noFill/>
          <a:ln w="28575">
            <a:solidFill>
              <a:srgbClr val="5B6B60"/>
            </a:solidFill>
            <a:prstDash val="dash"/>
          </a:ln>
        </p:spPr>
        <p:txBody>
          <a:bodyPr/>
          <a:lstStyle/>
          <a:p>
            <a:endParaRPr lang="en-KR"/>
          </a:p>
        </p:txBody>
      </p:sp>
      <p:sp>
        <p:nvSpPr>
          <p:cNvPr id="17" name="Shape 15"/>
          <p:cNvSpPr/>
          <p:nvPr/>
        </p:nvSpPr>
        <p:spPr>
          <a:xfrm>
            <a:off x="4892040" y="3460399"/>
            <a:ext cx="434340" cy="52077"/>
          </a:xfrm>
          <a:prstGeom prst="line">
            <a:avLst/>
          </a:prstGeom>
          <a:noFill/>
          <a:ln w="28575">
            <a:solidFill>
              <a:srgbClr val="5B6B60"/>
            </a:solidFill>
            <a:prstDash val="dash"/>
          </a:ln>
        </p:spPr>
        <p:txBody>
          <a:bodyPr/>
          <a:lstStyle/>
          <a:p>
            <a:endParaRPr lang="en-KR"/>
          </a:p>
        </p:txBody>
      </p:sp>
      <p:sp>
        <p:nvSpPr>
          <p:cNvPr id="18" name="Shape 16"/>
          <p:cNvSpPr/>
          <p:nvPr/>
        </p:nvSpPr>
        <p:spPr>
          <a:xfrm>
            <a:off x="5326380" y="3512476"/>
            <a:ext cx="434340" cy="41584"/>
          </a:xfrm>
          <a:prstGeom prst="line">
            <a:avLst/>
          </a:prstGeom>
          <a:noFill/>
          <a:ln w="28575">
            <a:solidFill>
              <a:srgbClr val="5B6B60"/>
            </a:solidFill>
            <a:prstDash val="dash"/>
          </a:ln>
        </p:spPr>
        <p:txBody>
          <a:bodyPr/>
          <a:lstStyle/>
          <a:p>
            <a:endParaRPr lang="en-KR"/>
          </a:p>
        </p:txBody>
      </p:sp>
      <p:sp>
        <p:nvSpPr>
          <p:cNvPr id="19" name="Shape 17"/>
          <p:cNvSpPr/>
          <p:nvPr/>
        </p:nvSpPr>
        <p:spPr>
          <a:xfrm>
            <a:off x="5760720" y="3554060"/>
            <a:ext cx="434340" cy="33205"/>
          </a:xfrm>
          <a:prstGeom prst="line">
            <a:avLst/>
          </a:prstGeom>
          <a:noFill/>
          <a:ln w="28575">
            <a:solidFill>
              <a:srgbClr val="5B6B60"/>
            </a:solidFill>
            <a:prstDash val="dash"/>
          </a:ln>
        </p:spPr>
        <p:txBody>
          <a:bodyPr/>
          <a:lstStyle/>
          <a:p>
            <a:endParaRPr lang="en-KR"/>
          </a:p>
        </p:txBody>
      </p:sp>
      <p:sp>
        <p:nvSpPr>
          <p:cNvPr id="20" name="Shape 18"/>
          <p:cNvSpPr/>
          <p:nvPr/>
        </p:nvSpPr>
        <p:spPr>
          <a:xfrm>
            <a:off x="6195060" y="3587266"/>
            <a:ext cx="434340" cy="26515"/>
          </a:xfrm>
          <a:prstGeom prst="line">
            <a:avLst/>
          </a:prstGeom>
          <a:noFill/>
          <a:ln w="28575">
            <a:solidFill>
              <a:srgbClr val="5B6B60"/>
            </a:solidFill>
            <a:prstDash val="dash"/>
          </a:ln>
        </p:spPr>
        <p:txBody>
          <a:bodyPr/>
          <a:lstStyle/>
          <a:p>
            <a:endParaRPr lang="en-KR"/>
          </a:p>
        </p:txBody>
      </p:sp>
      <p:sp>
        <p:nvSpPr>
          <p:cNvPr id="21" name="Shape 19"/>
          <p:cNvSpPr/>
          <p:nvPr/>
        </p:nvSpPr>
        <p:spPr>
          <a:xfrm flipV="1">
            <a:off x="1417320" y="3316869"/>
            <a:ext cx="434340" cy="315128"/>
          </a:xfrm>
          <a:prstGeom prst="line">
            <a:avLst/>
          </a:prstGeom>
          <a:noFill/>
          <a:ln w="34925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2" name="Shape 20"/>
          <p:cNvSpPr/>
          <p:nvPr/>
        </p:nvSpPr>
        <p:spPr>
          <a:xfrm flipV="1">
            <a:off x="1851660" y="3071447"/>
            <a:ext cx="434340" cy="245422"/>
          </a:xfrm>
          <a:prstGeom prst="line">
            <a:avLst/>
          </a:prstGeom>
          <a:noFill/>
          <a:ln w="34925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3" name="Shape 21"/>
          <p:cNvSpPr/>
          <p:nvPr/>
        </p:nvSpPr>
        <p:spPr>
          <a:xfrm flipV="1">
            <a:off x="2286000" y="2880312"/>
            <a:ext cx="434340" cy="191135"/>
          </a:xfrm>
          <a:prstGeom prst="line">
            <a:avLst/>
          </a:prstGeom>
          <a:noFill/>
          <a:ln w="34925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4" name="Shape 22"/>
          <p:cNvSpPr/>
          <p:nvPr/>
        </p:nvSpPr>
        <p:spPr>
          <a:xfrm flipV="1">
            <a:off x="2720340" y="2731456"/>
            <a:ext cx="434340" cy="148856"/>
          </a:xfrm>
          <a:prstGeom prst="line">
            <a:avLst/>
          </a:prstGeom>
          <a:noFill/>
          <a:ln w="34925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5" name="Shape 23"/>
          <p:cNvSpPr/>
          <p:nvPr/>
        </p:nvSpPr>
        <p:spPr>
          <a:xfrm flipV="1">
            <a:off x="3154680" y="2615526"/>
            <a:ext cx="434340" cy="115929"/>
          </a:xfrm>
          <a:prstGeom prst="line">
            <a:avLst/>
          </a:prstGeom>
          <a:noFill/>
          <a:ln w="34925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6" name="Shape 24"/>
          <p:cNvSpPr/>
          <p:nvPr/>
        </p:nvSpPr>
        <p:spPr>
          <a:xfrm flipV="1">
            <a:off x="3589020" y="2525241"/>
            <a:ext cx="434340" cy="90286"/>
          </a:xfrm>
          <a:prstGeom prst="line">
            <a:avLst/>
          </a:prstGeom>
          <a:noFill/>
          <a:ln w="34925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7" name="Shape 25"/>
          <p:cNvSpPr/>
          <p:nvPr/>
        </p:nvSpPr>
        <p:spPr>
          <a:xfrm flipV="1">
            <a:off x="4023360" y="2454926"/>
            <a:ext cx="434340" cy="70315"/>
          </a:xfrm>
          <a:prstGeom prst="line">
            <a:avLst/>
          </a:prstGeom>
          <a:noFill/>
          <a:ln w="34925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8" name="Shape 26"/>
          <p:cNvSpPr/>
          <p:nvPr/>
        </p:nvSpPr>
        <p:spPr>
          <a:xfrm flipV="1">
            <a:off x="4457700" y="2400165"/>
            <a:ext cx="434340" cy="54761"/>
          </a:xfrm>
          <a:prstGeom prst="line">
            <a:avLst/>
          </a:prstGeom>
          <a:noFill/>
          <a:ln w="34925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9" name="Shape 27"/>
          <p:cNvSpPr/>
          <p:nvPr/>
        </p:nvSpPr>
        <p:spPr>
          <a:xfrm flipV="1">
            <a:off x="4892040" y="2357517"/>
            <a:ext cx="434340" cy="42648"/>
          </a:xfrm>
          <a:prstGeom prst="line">
            <a:avLst/>
          </a:prstGeom>
          <a:noFill/>
          <a:ln w="34925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0" name="Shape 28"/>
          <p:cNvSpPr/>
          <p:nvPr/>
        </p:nvSpPr>
        <p:spPr>
          <a:xfrm flipV="1">
            <a:off x="5326380" y="2324303"/>
            <a:ext cx="434340" cy="33214"/>
          </a:xfrm>
          <a:prstGeom prst="line">
            <a:avLst/>
          </a:prstGeom>
          <a:noFill/>
          <a:ln w="34925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1" name="Shape 29"/>
          <p:cNvSpPr/>
          <p:nvPr/>
        </p:nvSpPr>
        <p:spPr>
          <a:xfrm flipV="1">
            <a:off x="5760720" y="2298435"/>
            <a:ext cx="434340" cy="25867"/>
          </a:xfrm>
          <a:prstGeom prst="line">
            <a:avLst/>
          </a:prstGeom>
          <a:noFill/>
          <a:ln w="34925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2" name="Shape 30"/>
          <p:cNvSpPr/>
          <p:nvPr/>
        </p:nvSpPr>
        <p:spPr>
          <a:xfrm flipV="1">
            <a:off x="6195060" y="2278290"/>
            <a:ext cx="434340" cy="20145"/>
          </a:xfrm>
          <a:prstGeom prst="line">
            <a:avLst/>
          </a:prstGeom>
          <a:noFill/>
          <a:ln w="34925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3" name="Text 31"/>
          <p:cNvSpPr/>
          <p:nvPr/>
        </p:nvSpPr>
        <p:spPr>
          <a:xfrm>
            <a:off x="6702552" y="215027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7D32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accuracy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702552" y="3485765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B6B60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loss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1417320" y="3913632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B60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학습 반복 (epoch) →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57200" y="2057400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60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높음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57200" y="3712464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60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낮음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94360" y="4184664"/>
            <a:ext cx="7955280" cy="603368"/>
          </a:xfrm>
          <a:prstGeom prst="roundRect">
            <a:avLst>
              <a:gd name="adj" fmla="val 18182"/>
            </a:avLst>
          </a:prstGeom>
          <a:solidFill>
            <a:srgbClr val="2E7D32"/>
          </a:solidFill>
          <a:ln/>
          <a:effectLst>
            <a:outerShdw blurRad="88900" dist="38100" dir="5400000" algn="bl" rotWithShape="0">
              <a:srgbClr val="1B5E20">
                <a:alpha val="12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39" name="Text 37"/>
          <p:cNvSpPr/>
          <p:nvPr/>
        </p:nvSpPr>
        <p:spPr>
          <a:xfrm>
            <a:off x="868680" y="4184664"/>
            <a:ext cx="7406640" cy="603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실수는 줄고 정답률은 오른다. 이것이 ‘학습’입니다.</a:t>
            </a:r>
            <a:endParaRPr lang="en-US" sz="1450" dirty="0"/>
          </a:p>
          <a:p>
            <a:pPr marL="0" indent="0" algn="ctr">
              <a:spcBef>
                <a:spcPts val="300"/>
              </a:spcBef>
              <a:buNone/>
            </a:pPr>
            <a:r>
              <a:rPr lang="en-US" sz="950" dirty="0">
                <a:solidFill>
                  <a:srgbClr val="D8E8DC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단, 무한정 반복하면? 어느 순간 정확도는 멈추고(수확체감), 처음 보는 사진에는 오히려 약해집니다(과적합)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594360" y="4828032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60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 스마트팜 가상 실습실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7726680" y="4828032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60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14</a:t>
            </a:r>
            <a:endParaRPr lang="en-US" sz="900" dirty="0"/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4F631B6F-C58B-32CF-BCF0-2741E714446C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rgbClr val="264710">
                <a:tint val="45000"/>
                <a:satMod val="400000"/>
              </a:srgb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11500"/>
                    </a14:imgEffect>
                    <a14:imgEffect>
                      <a14:saturation sat="28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257402" y="4745119"/>
            <a:ext cx="629195" cy="367030"/>
          </a:xfrm>
          <a:prstGeom prst="rect">
            <a:avLst/>
          </a:prstGeom>
          <a:solidFill>
            <a:schemeClr val="accent6">
              <a:lumMod val="50000"/>
              <a:alpha val="0"/>
            </a:schemeClr>
          </a:solidFill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29768"/>
            <a:ext cx="91440" cy="457200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3" name="Text 1"/>
          <p:cNvSpPr/>
          <p:nvPr/>
        </p:nvSpPr>
        <p:spPr>
          <a:xfrm>
            <a:off x="832104" y="384048"/>
            <a:ext cx="77175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B5E20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학습한 AI로 진단하기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1371600"/>
            <a:ext cx="4754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E2B22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“새 잎 사진 진단하기” 클릭</a:t>
            </a:r>
            <a:endParaRPr lang="en-US" sz="1450" dirty="0"/>
          </a:p>
          <a:p>
            <a:pPr marL="342900" indent="-342900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E2B22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작물(토마토/고추/상추/딸기/오이) + 진단(건강/병해/해충) + 신뢰도(%)</a:t>
            </a:r>
            <a:endParaRPr lang="en-US" sz="1450" dirty="0"/>
          </a:p>
          <a:p>
            <a:pPr marL="342900" indent="-342900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E2B22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diagnoses 테이블에 INSERT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85800" y="274320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7D32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진행도 2/4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85800" y="3017520"/>
            <a:ext cx="310896" cy="128016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7" name="Shape 5"/>
          <p:cNvSpPr/>
          <p:nvPr/>
        </p:nvSpPr>
        <p:spPr>
          <a:xfrm>
            <a:off x="1088136" y="3017520"/>
            <a:ext cx="310896" cy="128016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8" name="Shape 6"/>
          <p:cNvSpPr/>
          <p:nvPr/>
        </p:nvSpPr>
        <p:spPr>
          <a:xfrm>
            <a:off x="1490472" y="3017520"/>
            <a:ext cx="310896" cy="128016"/>
          </a:xfrm>
          <a:prstGeom prst="roundRect">
            <a:avLst>
              <a:gd name="adj" fmla="val 50000"/>
            </a:avLst>
          </a:prstGeom>
          <a:solidFill>
            <a:srgbClr val="A5D6A7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9" name="Shape 7"/>
          <p:cNvSpPr/>
          <p:nvPr/>
        </p:nvSpPr>
        <p:spPr>
          <a:xfrm>
            <a:off x="1892808" y="3017520"/>
            <a:ext cx="310896" cy="128016"/>
          </a:xfrm>
          <a:prstGeom prst="roundRect">
            <a:avLst>
              <a:gd name="adj" fmla="val 50000"/>
            </a:avLst>
          </a:prstGeom>
          <a:solidFill>
            <a:srgbClr val="A5D6A7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0" name="Shape 8"/>
          <p:cNvSpPr/>
          <p:nvPr/>
        </p:nvSpPr>
        <p:spPr>
          <a:xfrm>
            <a:off x="594360" y="3230264"/>
            <a:ext cx="4754880" cy="1522736"/>
          </a:xfrm>
          <a:prstGeom prst="roundRect">
            <a:avLst>
              <a:gd name="adj" fmla="val 8421"/>
            </a:avLst>
          </a:prstGeom>
          <a:solidFill>
            <a:srgbClr val="F1F8F2"/>
          </a:solidFill>
          <a:ln w="12700">
            <a:solidFill>
              <a:srgbClr val="66BB6A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1" name="Text 9"/>
          <p:cNvSpPr/>
          <p:nvPr/>
        </p:nvSpPr>
        <p:spPr>
          <a:xfrm>
            <a:off x="813816" y="334913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7D32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생각해보기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13816" y="3614312"/>
            <a:ext cx="4428744" cy="10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E2B22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신뢰도가 100%가 아닌 이유? AI는 확신이 아니라 ‘</a:t>
            </a:r>
            <a:r>
              <a:rPr lang="en-US" sz="1300" dirty="0" err="1">
                <a:solidFill>
                  <a:srgbClr val="1E2B22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확률’로</a:t>
            </a:r>
            <a:r>
              <a:rPr lang="en-US" sz="1300" dirty="0">
                <a:solidFill>
                  <a:srgbClr val="1E2B22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 </a:t>
            </a:r>
            <a:r>
              <a:rPr lang="en-US" sz="1300" dirty="0" err="1">
                <a:solidFill>
                  <a:srgbClr val="1E2B22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답합니다</a:t>
            </a:r>
            <a:r>
              <a:rPr lang="en-US" altLang="ko-KR" sz="1300" dirty="0">
                <a:solidFill>
                  <a:srgbClr val="1E2B22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!</a:t>
            </a:r>
            <a:endParaRPr lang="en-US" sz="1300" dirty="0"/>
          </a:p>
          <a:p>
            <a:pPr marL="0" indent="0">
              <a:spcBef>
                <a:spcPts val="400"/>
              </a:spcBef>
              <a:buNone/>
            </a:pPr>
            <a:r>
              <a:rPr lang="en-US" sz="1300" dirty="0">
                <a:solidFill>
                  <a:srgbClr val="1E2B22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건강한 잎을 ‘병해’로 잘못 보면? → 오탐(거짓양성)</a:t>
            </a:r>
            <a:endParaRPr lang="en-US" sz="1300" dirty="0"/>
          </a:p>
          <a:p>
            <a:pPr marL="0" indent="0">
              <a:spcBef>
                <a:spcPts val="400"/>
              </a:spcBef>
              <a:buNone/>
            </a:pPr>
            <a:r>
              <a:rPr lang="en-US" sz="1300" dirty="0">
                <a:solidFill>
                  <a:srgbClr val="1E2B22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신뢰도 75% 미만이면 화면에 진짜로 ‘판단보류’가 떠요 — 직접 만들어 보세요! 좋은 AI는 모를 때 ‘모른다’고 말합니다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852160" y="1371600"/>
            <a:ext cx="2697480" cy="2926080"/>
          </a:xfrm>
          <a:prstGeom prst="roundRect">
            <a:avLst>
              <a:gd name="adj" fmla="val 2712"/>
            </a:avLst>
          </a:prstGeom>
          <a:solidFill>
            <a:srgbClr val="F1F8F2"/>
          </a:solidFill>
          <a:ln w="12700">
            <a:solidFill>
              <a:srgbClr val="D8E8DC"/>
            </a:solidFill>
            <a:prstDash val="solid"/>
          </a:ln>
          <a:effectLst>
            <a:outerShdw blurRad="88900" dist="38100" dir="5400000" algn="bl" rotWithShape="0">
              <a:srgbClr val="1B5E20">
                <a:alpha val="12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14" name="Text 12"/>
          <p:cNvSpPr/>
          <p:nvPr/>
        </p:nvSpPr>
        <p:spPr>
          <a:xfrm>
            <a:off x="6080760" y="153619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B6B60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진단 결과 (예시)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126480" y="196596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60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작물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949440" y="196596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1B5E20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딸기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6126480" y="2532888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60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진단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949440" y="2532888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1B5E20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병해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126480" y="3099816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60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신뢰도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949440" y="3099816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1B5E20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87%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6126480" y="3794760"/>
            <a:ext cx="2148840" cy="146304"/>
          </a:xfrm>
          <a:prstGeom prst="roundRect">
            <a:avLst>
              <a:gd name="adj" fmla="val 50000"/>
            </a:avLst>
          </a:prstGeom>
          <a:solidFill>
            <a:srgbClr val="A5D6A7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22" name="Shape 20"/>
          <p:cNvSpPr/>
          <p:nvPr/>
        </p:nvSpPr>
        <p:spPr>
          <a:xfrm>
            <a:off x="6126480" y="3794760"/>
            <a:ext cx="1869491" cy="146304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23" name="Text 21"/>
          <p:cNvSpPr/>
          <p:nvPr/>
        </p:nvSpPr>
        <p:spPr>
          <a:xfrm>
            <a:off x="594360" y="4828032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60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 스마트팜 가상 실습실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726680" y="4828032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60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15</a:t>
            </a:r>
            <a:endParaRPr lang="en-US" sz="900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21136EFF-FF43-5AFC-7B1C-FA936C13476D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rgbClr val="264710">
                <a:tint val="45000"/>
                <a:satMod val="400000"/>
              </a:srgb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11500"/>
                    </a14:imgEffect>
                    <a14:imgEffect>
                      <a14:saturation sat="28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257402" y="4745119"/>
            <a:ext cx="629195" cy="367030"/>
          </a:xfrm>
          <a:prstGeom prst="rect">
            <a:avLst/>
          </a:prstGeom>
          <a:solidFill>
            <a:schemeClr val="accent6">
              <a:lumMod val="50000"/>
              <a:alpha val="0"/>
            </a:schemeClr>
          </a:solidFill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41371" y="537210"/>
            <a:ext cx="4476206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6000" b="1" dirty="0">
                <a:solidFill>
                  <a:srgbClr val="3E9A44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03</a:t>
            </a:r>
            <a:endParaRPr lang="en-US" sz="26000" dirty="0"/>
          </a:p>
        </p:txBody>
      </p:sp>
      <p:sp>
        <p:nvSpPr>
          <p:cNvPr id="3" name="Text 1"/>
          <p:cNvSpPr/>
          <p:nvPr/>
        </p:nvSpPr>
        <p:spPr>
          <a:xfrm>
            <a:off x="822960" y="16002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kern="0" spc="400" dirty="0">
                <a:solidFill>
                  <a:srgbClr val="C8E6C9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STEP 03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822960" y="2148840"/>
            <a:ext cx="6035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IoT 센서 연결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 rot="-1500000">
            <a:off x="1046074" y="3999586"/>
            <a:ext cx="482803" cy="261518"/>
          </a:xfrm>
          <a:prstGeom prst="ellipse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20" name="TimeBadge"/>
          <p:cNvSpPr/>
          <p:nvPr/>
        </p:nvSpPr>
        <p:spPr>
          <a:xfrm>
            <a:off x="822960" y="345948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1B5E2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8E6C9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⏱ 20분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29768"/>
            <a:ext cx="91440" cy="457200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3" name="Text 1"/>
          <p:cNvSpPr/>
          <p:nvPr/>
        </p:nvSpPr>
        <p:spPr>
          <a:xfrm>
            <a:off x="832104" y="384048"/>
            <a:ext cx="77175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B5E20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작은 컴퓨터가 온습도를 실시간으로 보냅니다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94360" y="1234440"/>
            <a:ext cx="3657600" cy="2331720"/>
          </a:xfrm>
          <a:prstGeom prst="roundRect">
            <a:avLst>
              <a:gd name="adj" fmla="val 3137"/>
            </a:avLst>
          </a:prstGeom>
          <a:solidFill>
            <a:srgbClr val="F1F8F2"/>
          </a:solidFill>
          <a:ln w="12700">
            <a:solidFill>
              <a:srgbClr val="D8E8DC"/>
            </a:solidFill>
            <a:prstDash val="solid"/>
          </a:ln>
          <a:effectLst>
            <a:outerShdw blurRad="88900" dist="38100" dir="5400000" algn="bl" rotWithShape="0">
              <a:srgbClr val="1B5E20">
                <a:alpha val="12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5" name="Text 3"/>
          <p:cNvSpPr/>
          <p:nvPr/>
        </p:nvSpPr>
        <p:spPr>
          <a:xfrm>
            <a:off x="850392" y="139903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7D32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개념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50392" y="1737360"/>
            <a:ext cx="314553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B5E20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ESP32</a:t>
            </a:r>
            <a:r>
              <a:rPr lang="en-US" sz="1400" dirty="0">
                <a:solidFill>
                  <a:srgbClr val="1E2B22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(손가락만 한 소형 컴퓨터)가 온도·습도·토양수분을 재서 </a:t>
            </a:r>
            <a:r>
              <a:rPr lang="en-US" sz="1400" b="1" dirty="0">
                <a:solidFill>
                  <a:srgbClr val="1B5E20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WiFi</a:t>
            </a:r>
            <a:r>
              <a:rPr lang="en-US" sz="1400" dirty="0">
                <a:solidFill>
                  <a:srgbClr val="1E2B22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로 데이터베이스에 전송하고, 앱이 그래프로 표시합니다.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0" y="1234440"/>
            <a:ext cx="3977640" cy="2331720"/>
          </a:xfrm>
          <a:prstGeom prst="roundRect">
            <a:avLst>
              <a:gd name="adj" fmla="val 3137"/>
            </a:avLst>
          </a:prstGeom>
          <a:solidFill>
            <a:srgbClr val="F1F8F2"/>
          </a:solidFill>
          <a:ln w="12700">
            <a:solidFill>
              <a:srgbClr val="D8E8DC"/>
            </a:solidFill>
            <a:prstDash val="solid"/>
          </a:ln>
          <a:effectLst>
            <a:outerShdw blurRad="88900" dist="38100" dir="5400000" algn="bl" rotWithShape="0">
              <a:srgbClr val="1B5E20">
                <a:alpha val="12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8" name="Text 6"/>
          <p:cNvSpPr/>
          <p:nvPr/>
        </p:nvSpPr>
        <p:spPr>
          <a:xfrm>
            <a:off x="4828032" y="139903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7D32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조작 순서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583680" y="138074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7D32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진행도 3/4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583680" y="1655064"/>
            <a:ext cx="310896" cy="128016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1" name="Shape 9"/>
          <p:cNvSpPr/>
          <p:nvPr/>
        </p:nvSpPr>
        <p:spPr>
          <a:xfrm>
            <a:off x="6986016" y="1655064"/>
            <a:ext cx="310896" cy="128016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2" name="Shape 10"/>
          <p:cNvSpPr/>
          <p:nvPr/>
        </p:nvSpPr>
        <p:spPr>
          <a:xfrm>
            <a:off x="7388352" y="1655064"/>
            <a:ext cx="310896" cy="128016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3" name="Shape 11"/>
          <p:cNvSpPr/>
          <p:nvPr/>
        </p:nvSpPr>
        <p:spPr>
          <a:xfrm>
            <a:off x="7790688" y="1655064"/>
            <a:ext cx="310896" cy="128016"/>
          </a:xfrm>
          <a:prstGeom prst="roundRect">
            <a:avLst>
              <a:gd name="adj" fmla="val 50000"/>
            </a:avLst>
          </a:prstGeom>
          <a:solidFill>
            <a:srgbClr val="A5D6A7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4" name="Text 12"/>
          <p:cNvSpPr/>
          <p:nvPr/>
        </p:nvSpPr>
        <p:spPr>
          <a:xfrm>
            <a:off x="4823460" y="1930400"/>
            <a:ext cx="3584448" cy="17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95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 err="1">
                <a:solidFill>
                  <a:srgbClr val="1E2B22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전원</a:t>
            </a:r>
            <a:r>
              <a:rPr lang="en-US" sz="1200" dirty="0">
                <a:solidFill>
                  <a:srgbClr val="1E2B22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 </a:t>
            </a:r>
            <a:r>
              <a:rPr lang="en-US" sz="1200" dirty="0" err="1">
                <a:solidFill>
                  <a:srgbClr val="1E2B22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켜기</a:t>
            </a:r>
            <a:endParaRPr lang="en-US" sz="1200" dirty="0"/>
          </a:p>
          <a:p>
            <a:pPr marL="342900" indent="-342900">
              <a:lnSpc>
                <a:spcPct val="95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B22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온도·습도·토양수분 슬라이더로 값 설정</a:t>
            </a:r>
            <a:endParaRPr lang="en-US" sz="1200" dirty="0"/>
          </a:p>
          <a:p>
            <a:pPr marL="342900" indent="-342900">
              <a:lnSpc>
                <a:spcPct val="95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 err="1">
                <a:solidFill>
                  <a:srgbClr val="1E2B22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측정값</a:t>
            </a:r>
            <a:r>
              <a:rPr lang="en-US" sz="1200" dirty="0">
                <a:solidFill>
                  <a:srgbClr val="1E2B22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 1회 </a:t>
            </a:r>
            <a:r>
              <a:rPr lang="en-US" sz="1200" dirty="0" err="1">
                <a:solidFill>
                  <a:srgbClr val="1E2B22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전송</a:t>
            </a:r>
            <a:r>
              <a:rPr lang="en-US" sz="1200" dirty="0">
                <a:solidFill>
                  <a:srgbClr val="1E2B22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→ 데이터가 DB로 이동 (연결 완료)</a:t>
            </a:r>
            <a:endParaRPr lang="en-US" sz="1200" dirty="0"/>
          </a:p>
          <a:p>
            <a:pPr marL="342900" indent="-342900">
              <a:lnSpc>
                <a:spcPct val="95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 err="1">
                <a:solidFill>
                  <a:srgbClr val="1E2B22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자동측정</a:t>
            </a:r>
            <a:r>
              <a:rPr lang="en-US" sz="1200" dirty="0">
                <a:solidFill>
                  <a:srgbClr val="1E2B22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 </a:t>
            </a:r>
            <a:r>
              <a:rPr lang="en-US" sz="1200" dirty="0" err="1">
                <a:solidFill>
                  <a:srgbClr val="1E2B22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시작</a:t>
            </a:r>
            <a:r>
              <a:rPr lang="en-US" sz="1200" dirty="0">
                <a:solidFill>
                  <a:srgbClr val="1E2B22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→ 1.5초마다 전송, </a:t>
            </a:r>
            <a:r>
              <a:rPr lang="en-US" sz="1200" dirty="0" err="1">
                <a:solidFill>
                  <a:srgbClr val="1E2B22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실시간</a:t>
            </a:r>
            <a:r>
              <a:rPr lang="en-US" sz="1200" dirty="0">
                <a:solidFill>
                  <a:srgbClr val="1E2B22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 그래프</a:t>
            </a:r>
            <a:endParaRPr lang="en-US" sz="1200" dirty="0"/>
          </a:p>
          <a:p>
            <a:pPr marL="342900" indent="-342900">
              <a:lnSpc>
                <a:spcPct val="95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B22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“입김 불기(습도 상승)” → 습도가 확 뛰며 산봉우리</a:t>
            </a:r>
            <a:endParaRPr lang="en-US" sz="1200" dirty="0"/>
          </a:p>
          <a:p>
            <a:pPr marL="342900" indent="-342900">
              <a:lnSpc>
                <a:spcPct val="95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B22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“물 주기(토양수분 ↑)” → 토양수분이 확 올라감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94360" y="35935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B6B60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흐름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7220" y="3886200"/>
            <a:ext cx="1600200" cy="566928"/>
          </a:xfrm>
          <a:prstGeom prst="roundRect">
            <a:avLst>
              <a:gd name="adj" fmla="val 12903"/>
            </a:avLst>
          </a:prstGeom>
          <a:solidFill>
            <a:srgbClr val="F1F8F2"/>
          </a:solidFill>
          <a:ln w="15875">
            <a:solidFill>
              <a:srgbClr val="66BB6A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7" name="Text 15"/>
          <p:cNvSpPr/>
          <p:nvPr/>
        </p:nvSpPr>
        <p:spPr>
          <a:xfrm>
            <a:off x="617220" y="3886200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5E20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센서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290572" y="4032504"/>
            <a:ext cx="347472" cy="274320"/>
          </a:xfrm>
          <a:prstGeom prst="rightArrow">
            <a:avLst/>
          </a:prstGeom>
          <a:solidFill>
            <a:srgbClr val="66BB6A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9" name="Shape 17"/>
          <p:cNvSpPr/>
          <p:nvPr/>
        </p:nvSpPr>
        <p:spPr>
          <a:xfrm>
            <a:off x="2720340" y="3886200"/>
            <a:ext cx="1600200" cy="566928"/>
          </a:xfrm>
          <a:prstGeom prst="roundRect">
            <a:avLst>
              <a:gd name="adj" fmla="val 12903"/>
            </a:avLst>
          </a:prstGeom>
          <a:solidFill>
            <a:srgbClr val="F1F8F2"/>
          </a:solidFill>
          <a:ln w="15875">
            <a:solidFill>
              <a:srgbClr val="66BB6A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0" name="Text 18"/>
          <p:cNvSpPr/>
          <p:nvPr/>
        </p:nvSpPr>
        <p:spPr>
          <a:xfrm>
            <a:off x="2720340" y="3886200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5E20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인터넷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393692" y="4032504"/>
            <a:ext cx="347472" cy="274320"/>
          </a:xfrm>
          <a:prstGeom prst="rightArrow">
            <a:avLst/>
          </a:prstGeom>
          <a:solidFill>
            <a:srgbClr val="66BB6A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22" name="Shape 20"/>
          <p:cNvSpPr/>
          <p:nvPr/>
        </p:nvSpPr>
        <p:spPr>
          <a:xfrm>
            <a:off x="4823460" y="3886200"/>
            <a:ext cx="1600200" cy="566928"/>
          </a:xfrm>
          <a:prstGeom prst="roundRect">
            <a:avLst>
              <a:gd name="adj" fmla="val 12903"/>
            </a:avLst>
          </a:prstGeom>
          <a:solidFill>
            <a:srgbClr val="F1F8F2"/>
          </a:solidFill>
          <a:ln w="15875">
            <a:solidFill>
              <a:srgbClr val="66BB6A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3" name="Text 21"/>
          <p:cNvSpPr/>
          <p:nvPr/>
        </p:nvSpPr>
        <p:spPr>
          <a:xfrm>
            <a:off x="4823460" y="3886200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5E20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데이터베이스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496812" y="4032504"/>
            <a:ext cx="347472" cy="274320"/>
          </a:xfrm>
          <a:prstGeom prst="rightArrow">
            <a:avLst/>
          </a:prstGeom>
          <a:solidFill>
            <a:srgbClr val="66BB6A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25" name="Shape 23"/>
          <p:cNvSpPr/>
          <p:nvPr/>
        </p:nvSpPr>
        <p:spPr>
          <a:xfrm>
            <a:off x="6926580" y="3886200"/>
            <a:ext cx="1600200" cy="566928"/>
          </a:xfrm>
          <a:prstGeom prst="roundRect">
            <a:avLst>
              <a:gd name="adj" fmla="val 12903"/>
            </a:avLst>
          </a:prstGeom>
          <a:solidFill>
            <a:srgbClr val="E7F4E9"/>
          </a:solidFill>
          <a:ln w="15875">
            <a:solidFill>
              <a:srgbClr val="66BB6A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6" name="Text 24"/>
          <p:cNvSpPr/>
          <p:nvPr/>
        </p:nvSpPr>
        <p:spPr>
          <a:xfrm>
            <a:off x="6926580" y="3886200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5E20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앱 그래프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94360" y="4828032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60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 스마트팜 가상 실습실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726680" y="4828032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60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18</a:t>
            </a:r>
            <a:endParaRPr lang="en-US" sz="900" dirty="0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51B9D644-8DB9-64A4-76D9-EE6009553193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rgbClr val="264710">
                <a:tint val="45000"/>
                <a:satMod val="400000"/>
              </a:srgb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11500"/>
                    </a14:imgEffect>
                    <a14:imgEffect>
                      <a14:saturation sat="28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257402" y="4745119"/>
            <a:ext cx="629195" cy="367030"/>
          </a:xfrm>
          <a:prstGeom prst="rect">
            <a:avLst/>
          </a:prstGeom>
          <a:solidFill>
            <a:schemeClr val="accent6">
              <a:lumMod val="50000"/>
              <a:alpha val="0"/>
            </a:schemeClr>
          </a:solidFill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0">
            <a:extLst>
              <a:ext uri="{FF2B5EF4-FFF2-40B4-BE49-F238E27FC236}">
                <a16:creationId xmlns:a16="http://schemas.microsoft.com/office/drawing/2014/main" id="{F7355BBC-BF7F-380E-EEC5-80CD99C7A212}"/>
              </a:ext>
            </a:extLst>
          </p:cNvPr>
          <p:cNvSpPr/>
          <p:nvPr/>
        </p:nvSpPr>
        <p:spPr>
          <a:xfrm>
            <a:off x="4441371" y="537210"/>
            <a:ext cx="4476206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6000" b="1" dirty="0">
                <a:solidFill>
                  <a:srgbClr val="3E9A44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0</a:t>
            </a:r>
            <a:r>
              <a:rPr lang="en-US" altLang="ko-KR" sz="26000" b="1" dirty="0">
                <a:solidFill>
                  <a:srgbClr val="3E9A44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4</a:t>
            </a:r>
            <a:endParaRPr lang="en-US" sz="26000" dirty="0"/>
          </a:p>
        </p:txBody>
      </p:sp>
      <p:sp>
        <p:nvSpPr>
          <p:cNvPr id="3" name="Text 1"/>
          <p:cNvSpPr/>
          <p:nvPr/>
        </p:nvSpPr>
        <p:spPr>
          <a:xfrm>
            <a:off x="822960" y="16002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kern="0" spc="400" dirty="0">
                <a:solidFill>
                  <a:srgbClr val="C8E6C9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STEP 04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822960" y="2148840"/>
            <a:ext cx="6035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카메라(영상) 연결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 rot="-1500000">
            <a:off x="1046074" y="3999586"/>
            <a:ext cx="482803" cy="261518"/>
          </a:xfrm>
          <a:prstGeom prst="ellipse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20" name="TimeBadge"/>
          <p:cNvSpPr/>
          <p:nvPr/>
        </p:nvSpPr>
        <p:spPr>
          <a:xfrm>
            <a:off x="822960" y="345948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1B5E2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8E6C9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⏱ 10분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29768"/>
            <a:ext cx="91440" cy="457200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3" name="Text 1"/>
          <p:cNvSpPr/>
          <p:nvPr/>
        </p:nvSpPr>
        <p:spPr>
          <a:xfrm>
            <a:off x="832104" y="384048"/>
            <a:ext cx="77175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B5E20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멀리 있는 농장을 실시간으로 봅니다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94360" y="1280160"/>
            <a:ext cx="3657600" cy="2194560"/>
          </a:xfrm>
          <a:prstGeom prst="roundRect">
            <a:avLst>
              <a:gd name="adj" fmla="val 3333"/>
            </a:avLst>
          </a:prstGeom>
          <a:solidFill>
            <a:srgbClr val="F1F8F2"/>
          </a:solidFill>
          <a:ln w="12700">
            <a:solidFill>
              <a:srgbClr val="D8E8DC"/>
            </a:solidFill>
            <a:prstDash val="solid"/>
          </a:ln>
          <a:effectLst>
            <a:outerShdw blurRad="88900" dist="38100" dir="5400000" algn="bl" rotWithShape="0">
              <a:srgbClr val="1B5E20">
                <a:alpha val="12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5" name="Text 3"/>
          <p:cNvSpPr/>
          <p:nvPr/>
        </p:nvSpPr>
        <p:spPr>
          <a:xfrm>
            <a:off x="850392" y="144475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7D32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개념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50392" y="1783080"/>
            <a:ext cx="314553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B5E20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WiFi 카메라</a:t>
            </a:r>
            <a:r>
              <a:rPr lang="en-US" sz="1400" dirty="0">
                <a:solidFill>
                  <a:srgbClr val="1E2B22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가 영상을 클라우드에 올리고, 앱은 그 </a:t>
            </a:r>
            <a:r>
              <a:rPr lang="en-US" sz="1400" b="1" dirty="0">
                <a:solidFill>
                  <a:srgbClr val="1B5E20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‘주소(camera_url)’</a:t>
            </a:r>
            <a:r>
              <a:rPr lang="en-US" sz="1400" dirty="0">
                <a:solidFill>
                  <a:srgbClr val="1E2B22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만 알면 실시간으로 봅니다.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0" y="1280160"/>
            <a:ext cx="3977640" cy="2194560"/>
          </a:xfrm>
          <a:prstGeom prst="roundRect">
            <a:avLst>
              <a:gd name="adj" fmla="val 3333"/>
            </a:avLst>
          </a:prstGeom>
          <a:solidFill>
            <a:srgbClr val="F1F8F2"/>
          </a:solidFill>
          <a:ln w="12700">
            <a:solidFill>
              <a:srgbClr val="D8E8DC"/>
            </a:solidFill>
            <a:prstDash val="solid"/>
          </a:ln>
          <a:effectLst>
            <a:outerShdw blurRad="88900" dist="38100" dir="5400000" algn="bl" rotWithShape="0">
              <a:srgbClr val="1B5E20">
                <a:alpha val="12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8" name="Text 6"/>
          <p:cNvSpPr/>
          <p:nvPr/>
        </p:nvSpPr>
        <p:spPr>
          <a:xfrm>
            <a:off x="4828032" y="144475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7D32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조작 순서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583680" y="142646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7D32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진행도 4/4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583680" y="1700784"/>
            <a:ext cx="310896" cy="128016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1" name="Shape 9"/>
          <p:cNvSpPr/>
          <p:nvPr/>
        </p:nvSpPr>
        <p:spPr>
          <a:xfrm>
            <a:off x="6986016" y="1700784"/>
            <a:ext cx="310896" cy="128016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2" name="Shape 10"/>
          <p:cNvSpPr/>
          <p:nvPr/>
        </p:nvSpPr>
        <p:spPr>
          <a:xfrm>
            <a:off x="7388352" y="1700784"/>
            <a:ext cx="310896" cy="128016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3" name="Shape 11"/>
          <p:cNvSpPr/>
          <p:nvPr/>
        </p:nvSpPr>
        <p:spPr>
          <a:xfrm>
            <a:off x="7790688" y="1700784"/>
            <a:ext cx="310896" cy="128016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4" name="Text 12"/>
          <p:cNvSpPr/>
          <p:nvPr/>
        </p:nvSpPr>
        <p:spPr>
          <a:xfrm>
            <a:off x="4828032" y="1938528"/>
            <a:ext cx="346557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B22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“카메라 연결하기” → 주소 발급</a:t>
            </a:r>
            <a:endParaRPr lang="en-US" sz="1300" dirty="0"/>
          </a:p>
          <a:p>
            <a:pPr marL="342900" indent="-3429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B22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“라이브 켜기” → 실시간 화면 </a:t>
            </a:r>
            <a:r>
              <a:rPr lang="en-US" sz="1300" dirty="0" err="1">
                <a:solidFill>
                  <a:srgbClr val="1E2B22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시작</a:t>
            </a:r>
            <a:r>
              <a:rPr lang="en-US" sz="1300" dirty="0">
                <a:solidFill>
                  <a:srgbClr val="1E2B22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 </a:t>
            </a:r>
          </a:p>
          <a:p>
            <a:pPr marL="342900" indent="-3429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B22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“스냅샷 한 장 더 찍기” → </a:t>
            </a:r>
            <a:r>
              <a:rPr lang="en-US" sz="1300" dirty="0" err="1">
                <a:solidFill>
                  <a:srgbClr val="1E2B22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camera_frames</a:t>
            </a:r>
            <a:r>
              <a:rPr lang="en-US" sz="1300" dirty="0">
                <a:solidFill>
                  <a:srgbClr val="1E2B22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 </a:t>
            </a:r>
            <a:r>
              <a:rPr lang="ko-KR" altLang="en-US" sz="1300" dirty="0">
                <a:solidFill>
                  <a:srgbClr val="1E2B22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   </a:t>
            </a:r>
            <a:r>
              <a:rPr lang="en-US" sz="1300" dirty="0" err="1">
                <a:solidFill>
                  <a:srgbClr val="1E2B22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테이블에</a:t>
            </a:r>
            <a:r>
              <a:rPr lang="en-US" sz="1300" dirty="0">
                <a:solidFill>
                  <a:srgbClr val="1E2B22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 프레임 기록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94360" y="3534720"/>
            <a:ext cx="7955280" cy="1163312"/>
          </a:xfrm>
          <a:prstGeom prst="roundRect">
            <a:avLst>
              <a:gd name="adj" fmla="val 8000"/>
            </a:avLst>
          </a:prstGeom>
          <a:solidFill>
            <a:srgbClr val="E7F4E9"/>
          </a:solidFill>
          <a:ln w="12700">
            <a:solidFill>
              <a:srgbClr val="66BB6A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6" name="Text 14"/>
          <p:cNvSpPr/>
          <p:nvPr/>
        </p:nvSpPr>
        <p:spPr>
          <a:xfrm>
            <a:off x="850392" y="366273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7D32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연결고리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50392" y="3937056"/>
            <a:ext cx="7443216" cy="72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E2B22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기록의 ‘note’에 “딸기 잎 감지” 등 — STEP2의 AI 비전과 카메라가 만나면 자동 감시가 됩니다.</a:t>
            </a:r>
            <a:endParaRPr lang="en-US" sz="1400" dirty="0"/>
          </a:p>
          <a:p>
            <a:pPr marL="0" indent="0">
              <a:spcBef>
                <a:spcPts val="400"/>
              </a:spcBef>
              <a:buNone/>
            </a:pPr>
            <a:r>
              <a:rPr lang="en-US" sz="1400" b="1" dirty="0">
                <a:solidFill>
                  <a:srgbClr val="1B5E20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camera_url</a:t>
            </a:r>
            <a:r>
              <a:rPr lang="en-US" sz="1400" dirty="0">
                <a:solidFill>
                  <a:srgbClr val="1E2B22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도 ‘열쇠’ — 주소가 새면 남이 내 농장을 봅니다. 비밀로 관리!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94360" y="4828032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60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 스마트팜 가상 실습실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726680" y="4828032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60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20</a:t>
            </a:r>
            <a:endParaRPr lang="en-US" sz="90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A290FE02-05A5-DC90-1B28-9589AEEC0BD7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rgbClr val="264710">
                <a:tint val="45000"/>
                <a:satMod val="400000"/>
              </a:srgb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11500"/>
                    </a14:imgEffect>
                    <a14:imgEffect>
                      <a14:saturation sat="28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257402" y="4745119"/>
            <a:ext cx="629195" cy="367030"/>
          </a:xfrm>
          <a:prstGeom prst="rect">
            <a:avLst/>
          </a:prstGeom>
          <a:solidFill>
            <a:schemeClr val="accent6">
              <a:lumMod val="50000"/>
              <a:alpha val="0"/>
            </a:schemeClr>
          </a:solidFill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29768"/>
            <a:ext cx="91440" cy="457200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3" name="Text 1"/>
          <p:cNvSpPr/>
          <p:nvPr/>
        </p:nvSpPr>
        <p:spPr>
          <a:xfrm>
            <a:off x="832104" y="384048"/>
            <a:ext cx="77175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B5E20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4개를 다 켜면, 나만의 </a:t>
            </a:r>
            <a:r>
              <a:rPr lang="en-US" sz="2800" b="1" dirty="0" err="1">
                <a:solidFill>
                  <a:srgbClr val="1B5E20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스마트팜</a:t>
            </a:r>
            <a:r>
              <a:rPr lang="en-US" sz="2800" b="1" dirty="0">
                <a:solidFill>
                  <a:srgbClr val="1B5E20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 </a:t>
            </a:r>
            <a:r>
              <a:rPr lang="en-US" sz="2800" b="1" dirty="0" err="1">
                <a:solidFill>
                  <a:srgbClr val="1B5E20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앱</a:t>
            </a:r>
            <a:r>
              <a:rPr lang="en-US" sz="2800" b="1" dirty="0">
                <a:solidFill>
                  <a:srgbClr val="1B5E20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 </a:t>
            </a:r>
            <a:r>
              <a:rPr lang="en-US" sz="2800" b="1" dirty="0" err="1">
                <a:solidFill>
                  <a:srgbClr val="1B5E20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완성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94360" y="1484812"/>
            <a:ext cx="1847088" cy="1600200"/>
          </a:xfrm>
          <a:prstGeom prst="roundRect">
            <a:avLst>
              <a:gd name="adj" fmla="val 4571"/>
            </a:avLst>
          </a:prstGeom>
          <a:solidFill>
            <a:srgbClr val="E7F4E9"/>
          </a:solidFill>
          <a:ln w="12700">
            <a:solidFill>
              <a:srgbClr val="D8E8DC"/>
            </a:solidFill>
            <a:prstDash val="solid"/>
          </a:ln>
          <a:effectLst>
            <a:outerShdw blurRad="88900" dist="38100" dir="5400000" algn="bl" rotWithShape="0">
              <a:srgbClr val="1B5E20">
                <a:alpha val="12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5" name="Shape 3"/>
          <p:cNvSpPr/>
          <p:nvPr/>
        </p:nvSpPr>
        <p:spPr>
          <a:xfrm>
            <a:off x="1289304" y="1704268"/>
            <a:ext cx="457200" cy="457200"/>
          </a:xfrm>
          <a:prstGeom prst="ellipse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6" name="Shape 4"/>
          <p:cNvSpPr/>
          <p:nvPr/>
        </p:nvSpPr>
        <p:spPr>
          <a:xfrm>
            <a:off x="1399032" y="1942012"/>
            <a:ext cx="86868" cy="82296"/>
          </a:xfrm>
          <a:prstGeom prst="line">
            <a:avLst/>
          </a:prstGeom>
          <a:noFill/>
          <a:ln w="2794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" name="Shape 5"/>
          <p:cNvSpPr/>
          <p:nvPr/>
        </p:nvSpPr>
        <p:spPr>
          <a:xfrm flipV="1">
            <a:off x="1485900" y="1855144"/>
            <a:ext cx="160020" cy="169164"/>
          </a:xfrm>
          <a:prstGeom prst="line">
            <a:avLst/>
          </a:prstGeom>
          <a:noFill/>
          <a:ln w="2794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8" name="Text 6"/>
          <p:cNvSpPr/>
          <p:nvPr/>
        </p:nvSpPr>
        <p:spPr>
          <a:xfrm>
            <a:off x="685800" y="2234620"/>
            <a:ext cx="1664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B5E20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오늘 날씨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685800" y="2600380"/>
            <a:ext cx="16642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B60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공공데이터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615184" y="1484812"/>
            <a:ext cx="1847088" cy="1600200"/>
          </a:xfrm>
          <a:prstGeom prst="roundRect">
            <a:avLst>
              <a:gd name="adj" fmla="val 4571"/>
            </a:avLst>
          </a:prstGeom>
          <a:solidFill>
            <a:srgbClr val="E7F4E9"/>
          </a:solidFill>
          <a:ln w="12700">
            <a:solidFill>
              <a:srgbClr val="D8E8DC"/>
            </a:solidFill>
            <a:prstDash val="solid"/>
          </a:ln>
          <a:effectLst>
            <a:outerShdw blurRad="88900" dist="38100" dir="5400000" algn="bl" rotWithShape="0">
              <a:srgbClr val="1B5E20">
                <a:alpha val="12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11" name="Shape 9"/>
          <p:cNvSpPr/>
          <p:nvPr/>
        </p:nvSpPr>
        <p:spPr>
          <a:xfrm>
            <a:off x="3310128" y="1704268"/>
            <a:ext cx="457200" cy="457200"/>
          </a:xfrm>
          <a:prstGeom prst="ellipse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2" name="Shape 10"/>
          <p:cNvSpPr/>
          <p:nvPr/>
        </p:nvSpPr>
        <p:spPr>
          <a:xfrm>
            <a:off x="3419856" y="1942012"/>
            <a:ext cx="86868" cy="82296"/>
          </a:xfrm>
          <a:prstGeom prst="line">
            <a:avLst/>
          </a:prstGeom>
          <a:noFill/>
          <a:ln w="2794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3" name="Shape 11"/>
          <p:cNvSpPr/>
          <p:nvPr/>
        </p:nvSpPr>
        <p:spPr>
          <a:xfrm flipV="1">
            <a:off x="3506724" y="1855144"/>
            <a:ext cx="160020" cy="169164"/>
          </a:xfrm>
          <a:prstGeom prst="line">
            <a:avLst/>
          </a:prstGeom>
          <a:noFill/>
          <a:ln w="2794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4" name="Text 12"/>
          <p:cNvSpPr/>
          <p:nvPr/>
        </p:nvSpPr>
        <p:spPr>
          <a:xfrm>
            <a:off x="2706624" y="2234620"/>
            <a:ext cx="1664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B5E20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AI 진단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2706624" y="2600380"/>
            <a:ext cx="16642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B60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AI 비전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36008" y="1484812"/>
            <a:ext cx="1847088" cy="1600200"/>
          </a:xfrm>
          <a:prstGeom prst="roundRect">
            <a:avLst>
              <a:gd name="adj" fmla="val 4571"/>
            </a:avLst>
          </a:prstGeom>
          <a:solidFill>
            <a:srgbClr val="E7F4E9"/>
          </a:solidFill>
          <a:ln w="12700">
            <a:solidFill>
              <a:srgbClr val="D8E8DC"/>
            </a:solidFill>
            <a:prstDash val="solid"/>
          </a:ln>
          <a:effectLst>
            <a:outerShdw blurRad="88900" dist="38100" dir="5400000" algn="bl" rotWithShape="0">
              <a:srgbClr val="1B5E20">
                <a:alpha val="12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17" name="Shape 15"/>
          <p:cNvSpPr/>
          <p:nvPr/>
        </p:nvSpPr>
        <p:spPr>
          <a:xfrm>
            <a:off x="5330952" y="1704268"/>
            <a:ext cx="457200" cy="457200"/>
          </a:xfrm>
          <a:prstGeom prst="ellipse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8" name="Shape 16"/>
          <p:cNvSpPr/>
          <p:nvPr/>
        </p:nvSpPr>
        <p:spPr>
          <a:xfrm>
            <a:off x="5440680" y="1942012"/>
            <a:ext cx="86868" cy="82296"/>
          </a:xfrm>
          <a:prstGeom prst="line">
            <a:avLst/>
          </a:prstGeom>
          <a:noFill/>
          <a:ln w="2794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9" name="Shape 17"/>
          <p:cNvSpPr/>
          <p:nvPr/>
        </p:nvSpPr>
        <p:spPr>
          <a:xfrm flipV="1">
            <a:off x="5527548" y="1855144"/>
            <a:ext cx="160020" cy="169164"/>
          </a:xfrm>
          <a:prstGeom prst="line">
            <a:avLst/>
          </a:prstGeom>
          <a:noFill/>
          <a:ln w="2794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0" name="Text 18"/>
          <p:cNvSpPr/>
          <p:nvPr/>
        </p:nvSpPr>
        <p:spPr>
          <a:xfrm>
            <a:off x="4727448" y="2234620"/>
            <a:ext cx="1664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B5E20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실시간 분석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4727448" y="2600380"/>
            <a:ext cx="16642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B60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온습도 그래프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656832" y="1484812"/>
            <a:ext cx="1847088" cy="1600200"/>
          </a:xfrm>
          <a:prstGeom prst="roundRect">
            <a:avLst>
              <a:gd name="adj" fmla="val 4571"/>
            </a:avLst>
          </a:prstGeom>
          <a:solidFill>
            <a:srgbClr val="E7F4E9"/>
          </a:solidFill>
          <a:ln w="12700">
            <a:solidFill>
              <a:srgbClr val="D8E8DC"/>
            </a:solidFill>
            <a:prstDash val="solid"/>
          </a:ln>
          <a:effectLst>
            <a:outerShdw blurRad="88900" dist="38100" dir="5400000" algn="bl" rotWithShape="0">
              <a:srgbClr val="1B5E20">
                <a:alpha val="12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23" name="Shape 21"/>
          <p:cNvSpPr/>
          <p:nvPr/>
        </p:nvSpPr>
        <p:spPr>
          <a:xfrm>
            <a:off x="7351776" y="1704268"/>
            <a:ext cx="457200" cy="457200"/>
          </a:xfrm>
          <a:prstGeom prst="ellipse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24" name="Shape 22"/>
          <p:cNvSpPr/>
          <p:nvPr/>
        </p:nvSpPr>
        <p:spPr>
          <a:xfrm>
            <a:off x="7461504" y="1942012"/>
            <a:ext cx="86868" cy="82296"/>
          </a:xfrm>
          <a:prstGeom prst="line">
            <a:avLst/>
          </a:prstGeom>
          <a:noFill/>
          <a:ln w="2794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5" name="Shape 23"/>
          <p:cNvSpPr/>
          <p:nvPr/>
        </p:nvSpPr>
        <p:spPr>
          <a:xfrm flipV="1">
            <a:off x="7548372" y="1855144"/>
            <a:ext cx="160020" cy="169164"/>
          </a:xfrm>
          <a:prstGeom prst="line">
            <a:avLst/>
          </a:prstGeom>
          <a:noFill/>
          <a:ln w="2794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6" name="Text 24"/>
          <p:cNvSpPr/>
          <p:nvPr/>
        </p:nvSpPr>
        <p:spPr>
          <a:xfrm>
            <a:off x="6748272" y="2234620"/>
            <a:ext cx="1664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B5E20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실시간 카메라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6748272" y="2600380"/>
            <a:ext cx="16642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B60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라이브 영상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94360" y="3524794"/>
            <a:ext cx="7955280" cy="640080"/>
          </a:xfrm>
          <a:prstGeom prst="roundRect">
            <a:avLst>
              <a:gd name="adj" fmla="val 14286"/>
            </a:avLst>
          </a:prstGeom>
          <a:solidFill>
            <a:srgbClr val="2E7D32"/>
          </a:solidFill>
          <a:ln/>
          <a:effectLst>
            <a:outerShdw blurRad="88900" dist="38100" dir="5400000" algn="bl" rotWithShape="0">
              <a:srgbClr val="1B5E20">
                <a:alpha val="12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30" name="Text 28"/>
          <p:cNvSpPr/>
          <p:nvPr/>
        </p:nvSpPr>
        <p:spPr>
          <a:xfrm>
            <a:off x="868680" y="3524794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450" b="1" dirty="0">
                <a:solidFill>
                  <a:srgbClr val="FFFFFF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아직 잠긴 기능이 있다면 꼭 마저 완료해주세요</a:t>
            </a:r>
            <a:r>
              <a:rPr lang="en-US" altLang="ko-KR" sz="1450" b="1" dirty="0">
                <a:solidFill>
                  <a:srgbClr val="FFFFFF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!</a:t>
            </a:r>
            <a:endParaRPr lang="en-US" sz="1450" dirty="0"/>
          </a:p>
        </p:txBody>
      </p:sp>
      <p:sp>
        <p:nvSpPr>
          <p:cNvPr id="31" name="Text 29"/>
          <p:cNvSpPr/>
          <p:nvPr/>
        </p:nvSpPr>
        <p:spPr>
          <a:xfrm>
            <a:off x="594360" y="4828032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60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 스마트팜 가상 실습실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726680" y="4828032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60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21</a:t>
            </a:r>
            <a:endParaRPr lang="en-US" sz="900" dirty="0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B6C83DA5-9FB0-96F6-5FF2-27E501C4DFC8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rgbClr val="264710">
                <a:tint val="45000"/>
                <a:satMod val="400000"/>
              </a:srgb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11500"/>
                    </a14:imgEffect>
                    <a14:imgEffect>
                      <a14:saturation sat="28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257402" y="4745119"/>
            <a:ext cx="629195" cy="367030"/>
          </a:xfrm>
          <a:prstGeom prst="rect">
            <a:avLst/>
          </a:prstGeom>
          <a:solidFill>
            <a:schemeClr val="accent6">
              <a:lumMod val="50000"/>
              <a:alpha val="0"/>
            </a:schemeClr>
          </a:solidFill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29768"/>
            <a:ext cx="91440" cy="457200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3" name="Text 1"/>
          <p:cNvSpPr/>
          <p:nvPr/>
        </p:nvSpPr>
        <p:spPr>
          <a:xfrm>
            <a:off x="832104" y="384048"/>
            <a:ext cx="77175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B5E20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이건 진짜로도 돌아갑니다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94360" y="1371600"/>
            <a:ext cx="3657600" cy="2468880"/>
          </a:xfrm>
          <a:prstGeom prst="roundRect">
            <a:avLst>
              <a:gd name="adj" fmla="val 2963"/>
            </a:avLst>
          </a:prstGeom>
          <a:solidFill>
            <a:srgbClr val="F1F8F2"/>
          </a:solidFill>
          <a:ln w="12700">
            <a:solidFill>
              <a:srgbClr val="D8E8DC"/>
            </a:solidFill>
            <a:prstDash val="solid"/>
          </a:ln>
          <a:effectLst>
            <a:outerShdw blurRad="88900" dist="38100" dir="5400000" algn="bl" rotWithShape="0">
              <a:srgbClr val="1B5E20">
                <a:alpha val="12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6" name="Shape 4"/>
          <p:cNvSpPr/>
          <p:nvPr/>
        </p:nvSpPr>
        <p:spPr>
          <a:xfrm>
            <a:off x="1097280" y="1783080"/>
            <a:ext cx="2651760" cy="914400"/>
          </a:xfrm>
          <a:prstGeom prst="roundRect">
            <a:avLst>
              <a:gd name="adj" fmla="val 6000"/>
            </a:avLst>
          </a:prstGeom>
          <a:solidFill>
            <a:srgbClr val="DDEFE0"/>
          </a:solidFill>
          <a:ln w="15875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" name="Text 5"/>
          <p:cNvSpPr/>
          <p:nvPr/>
        </p:nvSpPr>
        <p:spPr>
          <a:xfrm>
            <a:off x="1097280" y="18745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5E20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헥사보드 (ESP32)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737360" y="2212848"/>
            <a:ext cx="1371600" cy="384048"/>
          </a:xfrm>
          <a:prstGeom prst="roundRect">
            <a:avLst>
              <a:gd name="adj" fmla="val 9524"/>
            </a:avLst>
          </a:prstGeom>
          <a:solidFill>
            <a:srgbClr val="1B5E20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9" name="Text 7"/>
          <p:cNvSpPr/>
          <p:nvPr/>
        </p:nvSpPr>
        <p:spPr>
          <a:xfrm>
            <a:off x="1737360" y="2212848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A5D6A7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24.6°C  /  61%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14400" y="2971800"/>
            <a:ext cx="100584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66BB6A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1" name="Text 9"/>
          <p:cNvSpPr/>
          <p:nvPr/>
        </p:nvSpPr>
        <p:spPr>
          <a:xfrm>
            <a:off x="914400" y="297180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5E20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온습도 센서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011680" y="2971800"/>
            <a:ext cx="100584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66BB6A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3" name="Text 11"/>
          <p:cNvSpPr/>
          <p:nvPr/>
        </p:nvSpPr>
        <p:spPr>
          <a:xfrm>
            <a:off x="2011680" y="297180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5E20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토양수분 센서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108960" y="2971800"/>
            <a:ext cx="100584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66BB6A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5" name="Text 13"/>
          <p:cNvSpPr/>
          <p:nvPr/>
        </p:nvSpPr>
        <p:spPr>
          <a:xfrm>
            <a:off x="3108960" y="297180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5E20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LED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572000" y="1463040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7D32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실물 딸기 디바이스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572000" y="1920240"/>
            <a:ext cx="3977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B22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온습도 센서 · 토양수분 센서 · LED, 그리고 </a:t>
            </a:r>
            <a:r>
              <a:rPr lang="en-US" sz="1400" dirty="0" err="1">
                <a:solidFill>
                  <a:srgbClr val="1E2B22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LCD에</a:t>
            </a:r>
            <a:r>
              <a:rPr lang="en-US" sz="1400" dirty="0">
                <a:solidFill>
                  <a:srgbClr val="1E2B22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 </a:t>
            </a:r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 err="1">
                <a:solidFill>
                  <a:srgbClr val="1E2B22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실시간</a:t>
            </a:r>
            <a:r>
              <a:rPr lang="en-US" sz="1400" dirty="0">
                <a:solidFill>
                  <a:srgbClr val="1E2B22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 온습도가 표시됩니다.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72000" y="2834640"/>
            <a:ext cx="3977640" cy="1005840"/>
          </a:xfrm>
          <a:prstGeom prst="roundRect">
            <a:avLst>
              <a:gd name="adj" fmla="val 7273"/>
            </a:avLst>
          </a:prstGeom>
          <a:solidFill>
            <a:srgbClr val="E7F4E9"/>
          </a:solidFill>
          <a:ln w="12700">
            <a:solidFill>
              <a:srgbClr val="66BB6A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9" name="Text 17"/>
          <p:cNvSpPr/>
          <p:nvPr/>
        </p:nvSpPr>
        <p:spPr>
          <a:xfrm>
            <a:off x="4800600" y="2971800"/>
            <a:ext cx="3520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ko-KR" altLang="en-US" sz="1400" b="1" dirty="0">
                <a:solidFill>
                  <a:srgbClr val="1B5E20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센서에서 표기되는 수치와 </a:t>
            </a:r>
            <a:endParaRPr lang="en-US" altLang="ko-KR" sz="1400" b="1" dirty="0">
              <a:solidFill>
                <a:srgbClr val="1B5E20"/>
              </a:solidFill>
              <a:latin typeface="Paperlogy" pitchFamily="34" charset="0"/>
              <a:ea typeface="Paperlogy" pitchFamily="34" charset="-122"/>
              <a:cs typeface="Paperlogy" pitchFamily="34" charset="-120"/>
            </a:endParaRPr>
          </a:p>
          <a:p>
            <a:pPr marL="0" indent="0">
              <a:lnSpc>
                <a:spcPct val="115000"/>
              </a:lnSpc>
              <a:buNone/>
            </a:pPr>
            <a:r>
              <a:rPr lang="ko-KR" altLang="en-US" sz="1400" b="1" dirty="0">
                <a:solidFill>
                  <a:srgbClr val="1B5E20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앱에서 표기되는 수치가 같음을 확인할 수 있습니다</a:t>
            </a:r>
            <a:r>
              <a:rPr lang="en-US" altLang="ko-KR" sz="1400" b="1" dirty="0">
                <a:solidFill>
                  <a:srgbClr val="1B5E20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94360" y="4828032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60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 스마트팜 가상 실습실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726680" y="4828032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60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23</a:t>
            </a:r>
            <a:endParaRPr lang="en-US" sz="900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7DFB03FB-6220-13F3-4B47-F71D55175B6A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rgbClr val="264710">
                <a:tint val="45000"/>
                <a:satMod val="400000"/>
              </a:srgb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11500"/>
                    </a14:imgEffect>
                    <a14:imgEffect>
                      <a14:saturation sat="28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257402" y="4745119"/>
            <a:ext cx="629195" cy="367030"/>
          </a:xfrm>
          <a:prstGeom prst="rect">
            <a:avLst/>
          </a:prstGeom>
          <a:solidFill>
            <a:schemeClr val="accent6">
              <a:lumMod val="50000"/>
              <a:alpha val="0"/>
            </a:schemeClr>
          </a:solidFill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29768"/>
            <a:ext cx="91440" cy="457200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3" name="Text 1"/>
          <p:cNvSpPr/>
          <p:nvPr/>
        </p:nvSpPr>
        <p:spPr>
          <a:xfrm>
            <a:off x="832104" y="384048"/>
            <a:ext cx="77175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B5E20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정리 퀴즈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94360" y="1188720"/>
            <a:ext cx="7955280" cy="457200"/>
          </a:xfrm>
          <a:prstGeom prst="roundRect">
            <a:avLst>
              <a:gd name="adj" fmla="val 14286"/>
            </a:avLst>
          </a:prstGeom>
          <a:solidFill>
            <a:srgbClr val="F1F8F2"/>
          </a:solidFill>
          <a:ln w="12700">
            <a:solidFill>
              <a:srgbClr val="D8E8DC"/>
            </a:solidFill>
            <a:prstDash val="solid"/>
          </a:ln>
          <a:effectLst>
            <a:outerShdw blurRad="88900" dist="38100" dir="5400000" algn="bl" rotWithShape="0">
              <a:srgbClr val="1B5E20">
                <a:alpha val="12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5" name="Shape 3"/>
          <p:cNvSpPr/>
          <p:nvPr/>
        </p:nvSpPr>
        <p:spPr>
          <a:xfrm>
            <a:off x="813816" y="1225296"/>
            <a:ext cx="384048" cy="384048"/>
          </a:xfrm>
          <a:prstGeom prst="ellipse">
            <a:avLst/>
          </a:prstGeom>
          <a:solidFill>
            <a:srgbClr val="66BB6A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6" name="Text 4"/>
          <p:cNvSpPr/>
          <p:nvPr/>
        </p:nvSpPr>
        <p:spPr>
          <a:xfrm>
            <a:off x="813816" y="12252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71600" y="11887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B22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공공데이터를 쓰려면 먼저 무엇이 필요할까?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0" y="1225296"/>
            <a:ext cx="1920240" cy="384048"/>
          </a:xfrm>
          <a:prstGeom prst="roundRect">
            <a:avLst>
              <a:gd name="adj" fmla="val 50000"/>
            </a:avLst>
          </a:prstGeom>
          <a:solidFill>
            <a:srgbClr val="E7F4E9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9" name="Text 7"/>
          <p:cNvSpPr/>
          <p:nvPr/>
        </p:nvSpPr>
        <p:spPr>
          <a:xfrm>
            <a:off x="6400800" y="1225296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E7D32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→  </a:t>
            </a:r>
            <a:r>
              <a:rPr lang="en-US" sz="1350" b="1" dirty="0">
                <a:solidFill>
                  <a:srgbClr val="1B5E20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인증키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94360" y="1682496"/>
            <a:ext cx="7955280" cy="457200"/>
          </a:xfrm>
          <a:prstGeom prst="roundRect">
            <a:avLst>
              <a:gd name="adj" fmla="val 14286"/>
            </a:avLst>
          </a:prstGeom>
          <a:solidFill>
            <a:srgbClr val="F1F8F2"/>
          </a:solidFill>
          <a:ln w="12700">
            <a:solidFill>
              <a:srgbClr val="D8E8DC"/>
            </a:solidFill>
            <a:prstDash val="solid"/>
          </a:ln>
          <a:effectLst>
            <a:outerShdw blurRad="88900" dist="38100" dir="5400000" algn="bl" rotWithShape="0">
              <a:srgbClr val="1B5E20">
                <a:alpha val="12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11" name="Shape 9"/>
          <p:cNvSpPr/>
          <p:nvPr/>
        </p:nvSpPr>
        <p:spPr>
          <a:xfrm>
            <a:off x="813816" y="1719072"/>
            <a:ext cx="384048" cy="384048"/>
          </a:xfrm>
          <a:prstGeom prst="ellipse">
            <a:avLst/>
          </a:prstGeom>
          <a:solidFill>
            <a:srgbClr val="66BB6A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2" name="Text 10"/>
          <p:cNvSpPr/>
          <p:nvPr/>
        </p:nvSpPr>
        <p:spPr>
          <a:xfrm>
            <a:off x="813816" y="17190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371600" y="1682496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B22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AI 학습에서 ‘반복 횟수’를 뭐라고 부를까?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00800" y="1719072"/>
            <a:ext cx="1920240" cy="384048"/>
          </a:xfrm>
          <a:prstGeom prst="roundRect">
            <a:avLst>
              <a:gd name="adj" fmla="val 50000"/>
            </a:avLst>
          </a:prstGeom>
          <a:solidFill>
            <a:srgbClr val="E7F4E9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5" name="Text 13"/>
          <p:cNvSpPr/>
          <p:nvPr/>
        </p:nvSpPr>
        <p:spPr>
          <a:xfrm>
            <a:off x="6400800" y="171907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E7D32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→  </a:t>
            </a:r>
            <a:r>
              <a:rPr lang="en-US" sz="1350" b="1" dirty="0">
                <a:solidFill>
                  <a:srgbClr val="1B5E20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epoch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94360" y="2176272"/>
            <a:ext cx="7955280" cy="457200"/>
          </a:xfrm>
          <a:prstGeom prst="roundRect">
            <a:avLst>
              <a:gd name="adj" fmla="val 14286"/>
            </a:avLst>
          </a:prstGeom>
          <a:solidFill>
            <a:srgbClr val="F1F8F2"/>
          </a:solidFill>
          <a:ln w="12700">
            <a:solidFill>
              <a:srgbClr val="D8E8DC"/>
            </a:solidFill>
            <a:prstDash val="solid"/>
          </a:ln>
          <a:effectLst>
            <a:outerShdw blurRad="88900" dist="38100" dir="5400000" algn="bl" rotWithShape="0">
              <a:srgbClr val="1B5E20">
                <a:alpha val="12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17" name="Shape 15"/>
          <p:cNvSpPr/>
          <p:nvPr/>
        </p:nvSpPr>
        <p:spPr>
          <a:xfrm>
            <a:off x="813816" y="2212848"/>
            <a:ext cx="384048" cy="384048"/>
          </a:xfrm>
          <a:prstGeom prst="ellipse">
            <a:avLst/>
          </a:prstGeom>
          <a:solidFill>
            <a:srgbClr val="66BB6A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8" name="Text 16"/>
          <p:cNvSpPr/>
          <p:nvPr/>
        </p:nvSpPr>
        <p:spPr>
          <a:xfrm>
            <a:off x="813816" y="22128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371600" y="2176272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B22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학습이 잘 될수록 내려가는 값은?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400800" y="2212848"/>
            <a:ext cx="1920240" cy="384048"/>
          </a:xfrm>
          <a:prstGeom prst="roundRect">
            <a:avLst>
              <a:gd name="adj" fmla="val 50000"/>
            </a:avLst>
          </a:prstGeom>
          <a:solidFill>
            <a:srgbClr val="E7F4E9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1" name="Text 19"/>
          <p:cNvSpPr/>
          <p:nvPr/>
        </p:nvSpPr>
        <p:spPr>
          <a:xfrm>
            <a:off x="6400800" y="221284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E7D32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→  </a:t>
            </a:r>
            <a:r>
              <a:rPr lang="en-US" sz="1350" b="1" dirty="0">
                <a:solidFill>
                  <a:srgbClr val="1B5E20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loss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594360" y="2670048"/>
            <a:ext cx="7955280" cy="457200"/>
          </a:xfrm>
          <a:prstGeom prst="roundRect">
            <a:avLst>
              <a:gd name="adj" fmla="val 14286"/>
            </a:avLst>
          </a:prstGeom>
          <a:solidFill>
            <a:srgbClr val="F1F8F2"/>
          </a:solidFill>
          <a:ln w="12700">
            <a:solidFill>
              <a:srgbClr val="D8E8DC"/>
            </a:solidFill>
            <a:prstDash val="solid"/>
          </a:ln>
          <a:effectLst>
            <a:outerShdw blurRad="88900" dist="38100" dir="5400000" algn="bl" rotWithShape="0">
              <a:srgbClr val="1B5E20">
                <a:alpha val="12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23" name="Shape 21"/>
          <p:cNvSpPr/>
          <p:nvPr/>
        </p:nvSpPr>
        <p:spPr>
          <a:xfrm>
            <a:off x="813816" y="2706624"/>
            <a:ext cx="384048" cy="384048"/>
          </a:xfrm>
          <a:prstGeom prst="ellipse">
            <a:avLst/>
          </a:prstGeom>
          <a:solidFill>
            <a:srgbClr val="66BB6A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24" name="Text 22"/>
          <p:cNvSpPr/>
          <p:nvPr/>
        </p:nvSpPr>
        <p:spPr>
          <a:xfrm>
            <a:off x="813816" y="27066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371600" y="2670048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B22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센서 값이 저장되는 곳은?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400800" y="2706624"/>
            <a:ext cx="1920240" cy="384048"/>
          </a:xfrm>
          <a:prstGeom prst="roundRect">
            <a:avLst>
              <a:gd name="adj" fmla="val 50000"/>
            </a:avLst>
          </a:prstGeom>
          <a:solidFill>
            <a:srgbClr val="E7F4E9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7" name="Text 25"/>
          <p:cNvSpPr/>
          <p:nvPr/>
        </p:nvSpPr>
        <p:spPr>
          <a:xfrm>
            <a:off x="6400800" y="2706624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E7D32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→  </a:t>
            </a:r>
            <a:r>
              <a:rPr lang="en-US" sz="1350" b="1" dirty="0">
                <a:solidFill>
                  <a:srgbClr val="1B5E20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데이터베이스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594360" y="3163824"/>
            <a:ext cx="7955280" cy="457200"/>
          </a:xfrm>
          <a:prstGeom prst="roundRect">
            <a:avLst>
              <a:gd name="adj" fmla="val 14286"/>
            </a:avLst>
          </a:prstGeom>
          <a:solidFill>
            <a:srgbClr val="F1F8F2"/>
          </a:solidFill>
          <a:ln w="12700">
            <a:solidFill>
              <a:srgbClr val="D8E8DC"/>
            </a:solidFill>
            <a:prstDash val="solid"/>
          </a:ln>
          <a:effectLst>
            <a:outerShdw blurRad="88900" dist="38100" dir="5400000" algn="bl" rotWithShape="0">
              <a:srgbClr val="1B5E20">
                <a:alpha val="12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29" name="Shape 27"/>
          <p:cNvSpPr/>
          <p:nvPr/>
        </p:nvSpPr>
        <p:spPr>
          <a:xfrm>
            <a:off x="813816" y="3200400"/>
            <a:ext cx="384048" cy="384048"/>
          </a:xfrm>
          <a:prstGeom prst="ellipse">
            <a:avLst/>
          </a:prstGeom>
          <a:solidFill>
            <a:srgbClr val="66BB6A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30" name="Text 28"/>
          <p:cNvSpPr/>
          <p:nvPr/>
        </p:nvSpPr>
        <p:spPr>
          <a:xfrm>
            <a:off x="813816" y="3200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5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371600" y="3163824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B22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테이블에 새 데이터 한 줄을 추가하는 명령은?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6400800" y="3200400"/>
            <a:ext cx="1920240" cy="384048"/>
          </a:xfrm>
          <a:prstGeom prst="roundRect">
            <a:avLst>
              <a:gd name="adj" fmla="val 50000"/>
            </a:avLst>
          </a:prstGeom>
          <a:solidFill>
            <a:srgbClr val="E7F4E9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3" name="Text 31"/>
          <p:cNvSpPr/>
          <p:nvPr/>
        </p:nvSpPr>
        <p:spPr>
          <a:xfrm>
            <a:off x="6400800" y="320040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E7D32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→  </a:t>
            </a:r>
            <a:r>
              <a:rPr lang="en-US" sz="1350" b="1" dirty="0">
                <a:solidFill>
                  <a:srgbClr val="1B5E20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INSERT</a:t>
            </a:r>
            <a:endParaRPr lang="en-US" sz="1350" dirty="0"/>
          </a:p>
        </p:txBody>
      </p:sp>
      <p:sp>
        <p:nvSpPr>
          <p:cNvPr id="40" name="Shape 26"/>
          <p:cNvSpPr/>
          <p:nvPr/>
        </p:nvSpPr>
        <p:spPr>
          <a:xfrm>
            <a:off x="594360" y="3657600"/>
            <a:ext cx="7955280" cy="457200"/>
          </a:xfrm>
          <a:prstGeom prst="roundRect">
            <a:avLst>
              <a:gd name="adj" fmla="val 14286"/>
            </a:avLst>
          </a:prstGeom>
          <a:solidFill>
            <a:srgbClr val="F1F8F2"/>
          </a:solidFill>
          <a:ln w="12700">
            <a:solidFill>
              <a:srgbClr val="D8E8DC"/>
            </a:solidFill>
            <a:prstDash val="solid"/>
          </a:ln>
          <a:effectLst>
            <a:outerShdw blurRad="88900" dist="38100" dir="5400000" algn="bl" rotWithShape="0">
              <a:srgbClr val="1B5E20">
                <a:alpha val="12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41" name="Shape 27"/>
          <p:cNvSpPr/>
          <p:nvPr/>
        </p:nvSpPr>
        <p:spPr>
          <a:xfrm>
            <a:off x="813816" y="3694176"/>
            <a:ext cx="384048" cy="384048"/>
          </a:xfrm>
          <a:prstGeom prst="ellipse">
            <a:avLst/>
          </a:prstGeom>
          <a:solidFill>
            <a:srgbClr val="66BB6A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42" name="Text 28"/>
          <p:cNvSpPr/>
          <p:nvPr/>
        </p:nvSpPr>
        <p:spPr>
          <a:xfrm>
            <a:off x="813816" y="3694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6</a:t>
            </a:r>
            <a:endParaRPr lang="en-US" sz="1400" dirty="0"/>
          </a:p>
        </p:txBody>
      </p:sp>
      <p:sp>
        <p:nvSpPr>
          <p:cNvPr id="43" name="Text 29"/>
          <p:cNvSpPr/>
          <p:nvPr/>
        </p:nvSpPr>
        <p:spPr>
          <a:xfrm>
            <a:off x="1371600" y="365760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B22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앱은 무엇만 알면 카메라 영상을 볼 수 있을까?</a:t>
            </a:r>
            <a:endParaRPr lang="en-US" sz="1400" dirty="0"/>
          </a:p>
        </p:txBody>
      </p:sp>
      <p:sp>
        <p:nvSpPr>
          <p:cNvPr id="44" name="Shape 30"/>
          <p:cNvSpPr/>
          <p:nvPr/>
        </p:nvSpPr>
        <p:spPr>
          <a:xfrm>
            <a:off x="6400800" y="3694176"/>
            <a:ext cx="1920240" cy="384048"/>
          </a:xfrm>
          <a:prstGeom prst="roundRect">
            <a:avLst>
              <a:gd name="adj" fmla="val 50000"/>
            </a:avLst>
          </a:prstGeom>
          <a:solidFill>
            <a:srgbClr val="E7F4E9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5" name="Text 31"/>
          <p:cNvSpPr/>
          <p:nvPr/>
        </p:nvSpPr>
        <p:spPr>
          <a:xfrm>
            <a:off x="6400800" y="3694176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E7D32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→  </a:t>
            </a:r>
            <a:r>
              <a:rPr lang="en-US" sz="1350" b="1" dirty="0">
                <a:solidFill>
                  <a:srgbClr val="1B5E20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주소(camera_url)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594360" y="418795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0" dirty="0">
                <a:solidFill>
                  <a:srgbClr val="5B6B60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3번 참고: 올라가는 값은 정확도(accuracy)</a:t>
            </a:r>
            <a:endParaRPr lang="en-US" sz="1050" dirty="0"/>
          </a:p>
        </p:txBody>
      </p:sp>
      <p:sp>
        <p:nvSpPr>
          <p:cNvPr id="38" name="Shape 37"/>
          <p:cNvSpPr/>
          <p:nvPr/>
        </p:nvSpPr>
        <p:spPr>
          <a:xfrm>
            <a:off x="594360" y="4494840"/>
            <a:ext cx="7955280" cy="280000"/>
          </a:xfrm>
          <a:prstGeom prst="roundRect">
            <a:avLst>
              <a:gd name="adj" fmla="val 25000"/>
            </a:avLst>
          </a:prstGeom>
          <a:solidFill>
            <a:srgbClr val="2E7D32"/>
          </a:solidFill>
          <a:ln/>
          <a:effectLst>
            <a:outerShdw blurRad="88900" dist="38100" dir="5400000" algn="bl" rotWithShape="0">
              <a:srgbClr val="1B5E20">
                <a:alpha val="12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39" name="Text 38"/>
          <p:cNvSpPr/>
          <p:nvPr/>
        </p:nvSpPr>
        <p:spPr>
          <a:xfrm>
            <a:off x="868680" y="4494840"/>
            <a:ext cx="740664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→ 이제 실습실 허브의 “마무리 퀴즈”(7문항 · 자동 채점)로 최종 점검!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594360" y="4828032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60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 스마트팜 가상 실습실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7726680" y="4828032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60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29</a:t>
            </a:r>
            <a:endParaRPr lang="en-US" sz="900" dirty="0"/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2E30732B-7004-EC3E-078F-4B9AA66764B9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rgbClr val="264710">
                <a:tint val="45000"/>
                <a:satMod val="400000"/>
              </a:srgb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11500"/>
                    </a14:imgEffect>
                    <a14:imgEffect>
                      <a14:saturation sat="28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257402" y="4745119"/>
            <a:ext cx="629195" cy="367030"/>
          </a:xfrm>
          <a:prstGeom prst="rect">
            <a:avLst/>
          </a:prstGeom>
          <a:solidFill>
            <a:schemeClr val="accent6">
              <a:lumMod val="50000"/>
              <a:alpha val="0"/>
            </a:schemeClr>
          </a:solidFill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29768"/>
            <a:ext cx="91440" cy="457200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3" name="Text 1"/>
          <p:cNvSpPr/>
          <p:nvPr/>
        </p:nvSpPr>
        <p:spPr>
          <a:xfrm>
            <a:off x="832104" y="384048"/>
            <a:ext cx="77175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B5E20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오늘의 기술, 이런 직업으로 이어집니다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94360" y="1851660"/>
            <a:ext cx="1481328" cy="1965960"/>
          </a:xfrm>
          <a:prstGeom prst="roundRect">
            <a:avLst>
              <a:gd name="adj" fmla="val 4938"/>
            </a:avLst>
          </a:prstGeom>
          <a:solidFill>
            <a:srgbClr val="F1F8F2"/>
          </a:solidFill>
          <a:ln w="12700">
            <a:solidFill>
              <a:srgbClr val="D8E8DC"/>
            </a:solidFill>
            <a:prstDash val="solid"/>
          </a:ln>
          <a:effectLst>
            <a:outerShdw blurRad="88900" dist="38100" dir="5400000" algn="bl" rotWithShape="0">
              <a:srgbClr val="1B5E20">
                <a:alpha val="12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5" name="Shape 3"/>
          <p:cNvSpPr/>
          <p:nvPr/>
        </p:nvSpPr>
        <p:spPr>
          <a:xfrm>
            <a:off x="1106424" y="2107692"/>
            <a:ext cx="457200" cy="457200"/>
          </a:xfrm>
          <a:prstGeom prst="ellipse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6" name="Text 4"/>
          <p:cNvSpPr/>
          <p:nvPr/>
        </p:nvSpPr>
        <p:spPr>
          <a:xfrm>
            <a:off x="1106424" y="21076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67512" y="2692908"/>
            <a:ext cx="13350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B5E20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스마트팜</a:t>
            </a:r>
            <a:endParaRPr lang="en-US" sz="13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B5E20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엔지니어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67512" y="3406140"/>
            <a:ext cx="13350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60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전체 시스템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212848" y="1851660"/>
            <a:ext cx="1481328" cy="1965960"/>
          </a:xfrm>
          <a:prstGeom prst="roundRect">
            <a:avLst>
              <a:gd name="adj" fmla="val 4938"/>
            </a:avLst>
          </a:prstGeom>
          <a:solidFill>
            <a:srgbClr val="F1F8F2"/>
          </a:solidFill>
          <a:ln w="12700">
            <a:solidFill>
              <a:srgbClr val="D8E8DC"/>
            </a:solidFill>
            <a:prstDash val="solid"/>
          </a:ln>
          <a:effectLst>
            <a:outerShdw blurRad="88900" dist="38100" dir="5400000" algn="bl" rotWithShape="0">
              <a:srgbClr val="1B5E20">
                <a:alpha val="12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10" name="Shape 8"/>
          <p:cNvSpPr/>
          <p:nvPr/>
        </p:nvSpPr>
        <p:spPr>
          <a:xfrm>
            <a:off x="2724912" y="2107692"/>
            <a:ext cx="457200" cy="457200"/>
          </a:xfrm>
          <a:prstGeom prst="ellipse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1" name="Text 9"/>
          <p:cNvSpPr/>
          <p:nvPr/>
        </p:nvSpPr>
        <p:spPr>
          <a:xfrm>
            <a:off x="2724912" y="21076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286000" y="2692908"/>
            <a:ext cx="13350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B5E20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AI 개발자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2286000" y="3406140"/>
            <a:ext cx="13350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60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STEP2 학습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831336" y="1851660"/>
            <a:ext cx="1481328" cy="1965960"/>
          </a:xfrm>
          <a:prstGeom prst="roundRect">
            <a:avLst>
              <a:gd name="adj" fmla="val 4938"/>
            </a:avLst>
          </a:prstGeom>
          <a:solidFill>
            <a:srgbClr val="F1F8F2"/>
          </a:solidFill>
          <a:ln w="12700">
            <a:solidFill>
              <a:srgbClr val="D8E8DC"/>
            </a:solidFill>
            <a:prstDash val="solid"/>
          </a:ln>
          <a:effectLst>
            <a:outerShdw blurRad="88900" dist="38100" dir="5400000" algn="bl" rotWithShape="0">
              <a:srgbClr val="1B5E20">
                <a:alpha val="12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15" name="Shape 13"/>
          <p:cNvSpPr/>
          <p:nvPr/>
        </p:nvSpPr>
        <p:spPr>
          <a:xfrm>
            <a:off x="4343400" y="2107692"/>
            <a:ext cx="457200" cy="457200"/>
          </a:xfrm>
          <a:prstGeom prst="ellipse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6" name="Text 14"/>
          <p:cNvSpPr/>
          <p:nvPr/>
        </p:nvSpPr>
        <p:spPr>
          <a:xfrm>
            <a:off x="4343400" y="21076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904488" y="2692908"/>
            <a:ext cx="13350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B5E20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데이터</a:t>
            </a:r>
            <a:endParaRPr lang="en-US" sz="13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B5E20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라벨러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3904488" y="3406140"/>
            <a:ext cx="13350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60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STEP2 라벨링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49824" y="1851660"/>
            <a:ext cx="1481328" cy="1965960"/>
          </a:xfrm>
          <a:prstGeom prst="roundRect">
            <a:avLst>
              <a:gd name="adj" fmla="val 4938"/>
            </a:avLst>
          </a:prstGeom>
          <a:solidFill>
            <a:srgbClr val="F1F8F2"/>
          </a:solidFill>
          <a:ln w="12700">
            <a:solidFill>
              <a:srgbClr val="D8E8DC"/>
            </a:solidFill>
            <a:prstDash val="solid"/>
          </a:ln>
          <a:effectLst>
            <a:outerShdw blurRad="88900" dist="38100" dir="5400000" algn="bl" rotWithShape="0">
              <a:srgbClr val="1B5E20">
                <a:alpha val="12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20" name="Shape 18"/>
          <p:cNvSpPr/>
          <p:nvPr/>
        </p:nvSpPr>
        <p:spPr>
          <a:xfrm>
            <a:off x="5961888" y="2107692"/>
            <a:ext cx="457200" cy="457200"/>
          </a:xfrm>
          <a:prstGeom prst="ellipse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21" name="Text 19"/>
          <p:cNvSpPr/>
          <p:nvPr/>
        </p:nvSpPr>
        <p:spPr>
          <a:xfrm>
            <a:off x="5961888" y="21076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522976" y="2692908"/>
            <a:ext cx="13350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B5E20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IoT 임베디드</a:t>
            </a:r>
            <a:endParaRPr lang="en-US" sz="13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B5E20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개발자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5522976" y="3406140"/>
            <a:ext cx="13350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60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STEP3 센서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068312" y="1851660"/>
            <a:ext cx="1481328" cy="1965960"/>
          </a:xfrm>
          <a:prstGeom prst="roundRect">
            <a:avLst>
              <a:gd name="adj" fmla="val 4938"/>
            </a:avLst>
          </a:prstGeom>
          <a:solidFill>
            <a:srgbClr val="F1F8F2"/>
          </a:solidFill>
          <a:ln w="12700">
            <a:solidFill>
              <a:srgbClr val="D8E8DC"/>
            </a:solidFill>
            <a:prstDash val="solid"/>
          </a:ln>
          <a:effectLst>
            <a:outerShdw blurRad="88900" dist="38100" dir="5400000" algn="bl" rotWithShape="0">
              <a:srgbClr val="1B5E20">
                <a:alpha val="12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25" name="Shape 23"/>
          <p:cNvSpPr/>
          <p:nvPr/>
        </p:nvSpPr>
        <p:spPr>
          <a:xfrm>
            <a:off x="7580376" y="2107692"/>
            <a:ext cx="457200" cy="457200"/>
          </a:xfrm>
          <a:prstGeom prst="ellipse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26" name="Text 24"/>
          <p:cNvSpPr/>
          <p:nvPr/>
        </p:nvSpPr>
        <p:spPr>
          <a:xfrm>
            <a:off x="7580376" y="21076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141464" y="2692908"/>
            <a:ext cx="13350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B5E20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백엔드</a:t>
            </a:r>
            <a:endParaRPr lang="en-US" sz="13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B5E20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개발자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7141464" y="3406140"/>
            <a:ext cx="13350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60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데이터베이스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594360" y="4828032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60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 스마트팜 가상 실습실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726680" y="4828032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60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32</a:t>
            </a:r>
            <a:endParaRPr lang="en-US" sz="900" dirty="0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84D971CB-1D19-3761-EA28-B7D66A26DF91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rgbClr val="264710">
                <a:tint val="45000"/>
                <a:satMod val="400000"/>
              </a:srgb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11500"/>
                    </a14:imgEffect>
                    <a14:imgEffect>
                      <a14:saturation sat="28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257402" y="4745119"/>
            <a:ext cx="629195" cy="367030"/>
          </a:xfrm>
          <a:prstGeom prst="rect">
            <a:avLst/>
          </a:prstGeom>
          <a:solidFill>
            <a:schemeClr val="accent6">
              <a:lumMod val="50000"/>
              <a:alpha val="0"/>
            </a:schemeClr>
          </a:solidFill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1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731520" y="1874520"/>
            <a:ext cx="7680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ko-KR" altLang="en-US" sz="3200" b="1" dirty="0" err="1">
                <a:solidFill>
                  <a:srgbClr val="2E7D32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스마트팜</a:t>
            </a:r>
            <a:r>
              <a:rPr lang="ko-KR" altLang="en-US" sz="3200" b="1" dirty="0">
                <a:solidFill>
                  <a:srgbClr val="2E7D32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 앱 개발에 성공하신 여러분들</a:t>
            </a:r>
            <a:r>
              <a:rPr lang="en-US" altLang="ko-KR" sz="3200" b="1" dirty="0">
                <a:solidFill>
                  <a:srgbClr val="2E7D32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,</a:t>
            </a:r>
            <a:br>
              <a:rPr lang="en-US" altLang="ko-KR" sz="3200" b="1" dirty="0">
                <a:solidFill>
                  <a:srgbClr val="2E7D32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</a:br>
            <a:br>
              <a:rPr lang="en-US" altLang="ko-KR" sz="3200" b="1" dirty="0">
                <a:solidFill>
                  <a:srgbClr val="2E7D32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</a:br>
            <a:r>
              <a:rPr lang="ko-KR" altLang="en-US" sz="3200" b="1" dirty="0">
                <a:solidFill>
                  <a:srgbClr val="2E7D32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수고하셨습니다</a:t>
            </a:r>
            <a:r>
              <a:rPr lang="en-US" altLang="ko-KR" sz="3200" b="1" dirty="0">
                <a:solidFill>
                  <a:srgbClr val="2E7D32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!</a:t>
            </a:r>
            <a:endParaRPr lang="en-US" sz="32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6A38E1C-A2A3-3D37-BAA8-FA050611C0F8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rgbClr val="264710">
                <a:tint val="45000"/>
                <a:satMod val="400000"/>
              </a:srgb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11500"/>
                    </a14:imgEffect>
                    <a14:imgEffect>
                      <a14:saturation sat="28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257402" y="4745119"/>
            <a:ext cx="629195" cy="367030"/>
          </a:xfrm>
          <a:prstGeom prst="rect">
            <a:avLst/>
          </a:prstGeom>
          <a:solidFill>
            <a:schemeClr val="accent6">
              <a:lumMod val="50000"/>
              <a:alpha val="0"/>
            </a:schemeClr>
          </a:solidFill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822960" y="16002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kern="0" spc="400" dirty="0">
                <a:solidFill>
                  <a:srgbClr val="C8E6C9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심화 모듈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822960" y="2148840"/>
            <a:ext cx="6035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두 데이터를 합치면</a:t>
            </a:r>
            <a:endParaRPr lang="en-US" sz="4000" dirty="0"/>
          </a:p>
        </p:txBody>
      </p:sp>
      <p:sp>
        <p:nvSpPr>
          <p:cNvPr id="9" name="Text 3"/>
          <p:cNvSpPr/>
          <p:nvPr/>
        </p:nvSpPr>
        <p:spPr>
          <a:xfrm>
            <a:off x="822960" y="345948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C8E6C9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※ 추가 차시용 — 오늘 120분 수업에서는 다루지 않습니다</a:t>
            </a:r>
            <a:endParaRPr lang="en-US" sz="1400" i="1" dirty="0"/>
          </a:p>
        </p:txBody>
      </p:sp>
      <p:sp>
        <p:nvSpPr>
          <p:cNvPr id="7" name="Shape 5"/>
          <p:cNvSpPr/>
          <p:nvPr/>
        </p:nvSpPr>
        <p:spPr>
          <a:xfrm rot="-1500000">
            <a:off x="1046074" y="3999586"/>
            <a:ext cx="482803" cy="261518"/>
          </a:xfrm>
          <a:prstGeom prst="ellipse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8" name="Text 0">
            <a:extLst>
              <a:ext uri="{FF2B5EF4-FFF2-40B4-BE49-F238E27FC236}">
                <a16:creationId xmlns:a16="http://schemas.microsoft.com/office/drawing/2014/main" id="{F7355BBC-BF7F-380E-EEC5-80CD99C7A212}"/>
              </a:ext>
            </a:extLst>
          </p:cNvPr>
          <p:cNvSpPr/>
          <p:nvPr/>
        </p:nvSpPr>
        <p:spPr>
          <a:xfrm>
            <a:off x="4441371" y="537210"/>
            <a:ext cx="4476206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6000" b="1" dirty="0">
                <a:solidFill>
                  <a:srgbClr val="3E9A44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＋</a:t>
            </a:r>
            <a:r>
              <a:rPr lang="en-US" altLang="ko-KR" sz="26000" b="1" dirty="0">
                <a:solidFill>
                  <a:srgbClr val="3E9A44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/>
            </a:r>
            <a:endParaRPr lang="en-US" sz="26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29768"/>
            <a:ext cx="91440" cy="457200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3" name="Text 1"/>
          <p:cNvSpPr/>
          <p:nvPr/>
        </p:nvSpPr>
        <p:spPr>
          <a:xfrm>
            <a:off x="832104" y="384048"/>
            <a:ext cx="77175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B5E20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잎만 보면? 흙만 보면? — 합쳐야 보인다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94360" y="1554480"/>
            <a:ext cx="2514600" cy="2194560"/>
          </a:xfrm>
          <a:prstGeom prst="roundRect">
            <a:avLst>
              <a:gd name="adj" fmla="val 3333"/>
            </a:avLst>
          </a:prstGeom>
          <a:solidFill>
            <a:srgbClr val="F1F8F2"/>
          </a:solidFill>
          <a:ln w="12700">
            <a:solidFill>
              <a:srgbClr val="D8E8DC"/>
            </a:solidFill>
            <a:prstDash val="solid"/>
          </a:ln>
          <a:effectLst>
            <a:outerShdw blurRad="88900" dist="38100" dir="5400000" algn="bl" rotWithShape="0">
              <a:srgbClr val="1B5E20">
                <a:alpha val="12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5" name="Shape 3"/>
          <p:cNvSpPr/>
          <p:nvPr/>
        </p:nvSpPr>
        <p:spPr>
          <a:xfrm>
            <a:off x="1577340" y="1828800"/>
            <a:ext cx="548640" cy="548640"/>
          </a:xfrm>
          <a:prstGeom prst="ellipse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6" name="Text 4"/>
          <p:cNvSpPr/>
          <p:nvPr/>
        </p:nvSpPr>
        <p:spPr>
          <a:xfrm>
            <a:off x="1577340" y="1828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77240" y="251460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B5E20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비전 (잎 사진)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22960" y="3035808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50" dirty="0">
                <a:solidFill>
                  <a:srgbClr val="5B6B60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AI가 잎을 봄 — 예: “노란 잎(황화)”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127248" y="2487168"/>
            <a:ext cx="365760" cy="329184"/>
          </a:xfrm>
          <a:prstGeom prst="rightArrow">
            <a:avLst/>
          </a:prstGeom>
          <a:solidFill>
            <a:srgbClr val="66BB6A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0" name="Shape 8"/>
          <p:cNvSpPr/>
          <p:nvPr/>
        </p:nvSpPr>
        <p:spPr>
          <a:xfrm>
            <a:off x="3465576" y="1554480"/>
            <a:ext cx="2514600" cy="2194560"/>
          </a:xfrm>
          <a:prstGeom prst="roundRect">
            <a:avLst>
              <a:gd name="adj" fmla="val 3333"/>
            </a:avLst>
          </a:prstGeom>
          <a:solidFill>
            <a:srgbClr val="F1F8F2"/>
          </a:solidFill>
          <a:ln w="12700">
            <a:solidFill>
              <a:srgbClr val="D8E8DC"/>
            </a:solidFill>
            <a:prstDash val="solid"/>
          </a:ln>
          <a:effectLst>
            <a:outerShdw blurRad="88900" dist="38100" dir="5400000" algn="bl" rotWithShape="0">
              <a:srgbClr val="1B5E20">
                <a:alpha val="12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11" name="Shape 9"/>
          <p:cNvSpPr/>
          <p:nvPr/>
        </p:nvSpPr>
        <p:spPr>
          <a:xfrm>
            <a:off x="4448556" y="1828800"/>
            <a:ext cx="548640" cy="548640"/>
          </a:xfrm>
          <a:prstGeom prst="ellipse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2" name="Text 10"/>
          <p:cNvSpPr/>
          <p:nvPr/>
        </p:nvSpPr>
        <p:spPr>
          <a:xfrm>
            <a:off x="4448556" y="1828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648456" y="251460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B5E20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IoT 센서 (흙)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3694176" y="3035808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50" dirty="0">
                <a:solidFill>
                  <a:srgbClr val="5B6B60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토양수분을 잼 — 예: “흙이 젖음”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998464" y="2487168"/>
            <a:ext cx="365760" cy="329184"/>
          </a:xfrm>
          <a:prstGeom prst="rightArrow">
            <a:avLst/>
          </a:prstGeom>
          <a:solidFill>
            <a:srgbClr val="66BB6A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6" name="Shape 14"/>
          <p:cNvSpPr/>
          <p:nvPr/>
        </p:nvSpPr>
        <p:spPr>
          <a:xfrm>
            <a:off x="6336792" y="1554480"/>
            <a:ext cx="2514600" cy="2194560"/>
          </a:xfrm>
          <a:prstGeom prst="roundRect">
            <a:avLst>
              <a:gd name="adj" fmla="val 3333"/>
            </a:avLst>
          </a:prstGeom>
          <a:solidFill>
            <a:srgbClr val="F1F8F2"/>
          </a:solidFill>
          <a:ln w="12700">
            <a:solidFill>
              <a:srgbClr val="D8E8DC"/>
            </a:solidFill>
            <a:prstDash val="solid"/>
          </a:ln>
          <a:effectLst>
            <a:outerShdw blurRad="88900" dist="38100" dir="5400000" algn="bl" rotWithShape="0">
              <a:srgbClr val="1B5E20">
                <a:alpha val="12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17" name="Shape 15"/>
          <p:cNvSpPr/>
          <p:nvPr/>
        </p:nvSpPr>
        <p:spPr>
          <a:xfrm>
            <a:off x="7319772" y="1828800"/>
            <a:ext cx="548640" cy="548640"/>
          </a:xfrm>
          <a:prstGeom prst="ellipse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8" name="Text 16"/>
          <p:cNvSpPr/>
          <p:nvPr/>
        </p:nvSpPr>
        <p:spPr>
          <a:xfrm>
            <a:off x="7319772" y="1828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519672" y="251460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B5E20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결합 판정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6565392" y="3035808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50" dirty="0">
                <a:solidFill>
                  <a:srgbClr val="5B6B60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둘을 합치면 → “과습!” (잎 + 흙)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94360" y="4828032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60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 스마트팜 가상 실습실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726680" y="4828032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60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25</a:t>
            </a:r>
            <a:endParaRPr lang="en-US" sz="900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A9D1874D-5C5E-0CD4-893A-5A7BDAD075C4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rgbClr val="264710">
                <a:tint val="45000"/>
                <a:satMod val="400000"/>
              </a:srgb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11500"/>
                    </a14:imgEffect>
                    <a14:imgEffect>
                      <a14:saturation sat="28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257402" y="4745119"/>
            <a:ext cx="629195" cy="367030"/>
          </a:xfrm>
          <a:prstGeom prst="rect">
            <a:avLst/>
          </a:prstGeom>
          <a:solidFill>
            <a:schemeClr val="accent6">
              <a:lumMod val="50000"/>
              <a:alpha val="0"/>
            </a:schemeClr>
          </a:solidFill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29768"/>
            <a:ext cx="91440" cy="457200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3" name="Text 1"/>
          <p:cNvSpPr/>
          <p:nvPr/>
        </p:nvSpPr>
        <p:spPr>
          <a:xfrm>
            <a:off x="832104" y="384048"/>
            <a:ext cx="77175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B5E20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같은 노란 잎, 흙에 따라 결론이 바뀝니다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94360" y="1417320"/>
            <a:ext cx="7955280" cy="896112"/>
          </a:xfrm>
          <a:prstGeom prst="roundRect">
            <a:avLst>
              <a:gd name="adj" fmla="val 8163"/>
            </a:avLst>
          </a:prstGeom>
          <a:solidFill>
            <a:srgbClr val="F1F8F2"/>
          </a:solidFill>
          <a:ln w="12700">
            <a:solidFill>
              <a:srgbClr val="D8E8DC"/>
            </a:solidFill>
            <a:prstDash val="solid"/>
          </a:ln>
          <a:effectLst>
            <a:outerShdw blurRad="88900" dist="38100" dir="5400000" algn="bl" rotWithShape="0">
              <a:srgbClr val="1B5E20">
                <a:alpha val="12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5" name="Shape 3"/>
          <p:cNvSpPr/>
          <p:nvPr/>
        </p:nvSpPr>
        <p:spPr>
          <a:xfrm>
            <a:off x="868680" y="1636776"/>
            <a:ext cx="457200" cy="457200"/>
          </a:xfrm>
          <a:prstGeom prst="ellipse">
            <a:avLst/>
          </a:prstGeom>
          <a:solidFill>
            <a:srgbClr val="66BB6A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6" name="Shape 4"/>
          <p:cNvSpPr/>
          <p:nvPr/>
        </p:nvSpPr>
        <p:spPr>
          <a:xfrm>
            <a:off x="978408" y="1874520"/>
            <a:ext cx="86868" cy="82296"/>
          </a:xfrm>
          <a:prstGeom prst="line">
            <a:avLst/>
          </a:prstGeom>
          <a:noFill/>
          <a:ln w="2794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" name="Shape 5"/>
          <p:cNvSpPr/>
          <p:nvPr/>
        </p:nvSpPr>
        <p:spPr>
          <a:xfrm flipV="1">
            <a:off x="1065276" y="1787652"/>
            <a:ext cx="160020" cy="169164"/>
          </a:xfrm>
          <a:prstGeom prst="line">
            <a:avLst/>
          </a:prstGeom>
          <a:noFill/>
          <a:ln w="2794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8" name="Text 6"/>
          <p:cNvSpPr/>
          <p:nvPr/>
        </p:nvSpPr>
        <p:spPr>
          <a:xfrm>
            <a:off x="1554480" y="1417320"/>
            <a:ext cx="67208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1B5E20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흙이 젖어 있으면 → 과습
</a:t>
            </a:r>
            <a:r>
              <a:rPr lang="en-US" sz="1300" dirty="0">
                <a:solidFill>
                  <a:srgbClr val="5B6B60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물을 너무 많이 줘 뿌리가 숨을 못 쉼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94360" y="2459736"/>
            <a:ext cx="7955280" cy="896112"/>
          </a:xfrm>
          <a:prstGeom prst="roundRect">
            <a:avLst>
              <a:gd name="adj" fmla="val 8163"/>
            </a:avLst>
          </a:prstGeom>
          <a:solidFill>
            <a:srgbClr val="F1F8F2"/>
          </a:solidFill>
          <a:ln w="12700">
            <a:solidFill>
              <a:srgbClr val="D8E8DC"/>
            </a:solidFill>
            <a:prstDash val="solid"/>
          </a:ln>
          <a:effectLst>
            <a:outerShdw blurRad="88900" dist="38100" dir="5400000" algn="bl" rotWithShape="0">
              <a:srgbClr val="1B5E20">
                <a:alpha val="12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10" name="Shape 8"/>
          <p:cNvSpPr/>
          <p:nvPr/>
        </p:nvSpPr>
        <p:spPr>
          <a:xfrm>
            <a:off x="868680" y="2679192"/>
            <a:ext cx="457200" cy="457200"/>
          </a:xfrm>
          <a:prstGeom prst="ellipse">
            <a:avLst/>
          </a:prstGeom>
          <a:solidFill>
            <a:srgbClr val="66BB6A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1" name="Shape 9"/>
          <p:cNvSpPr/>
          <p:nvPr/>
        </p:nvSpPr>
        <p:spPr>
          <a:xfrm>
            <a:off x="978408" y="2916936"/>
            <a:ext cx="86868" cy="82296"/>
          </a:xfrm>
          <a:prstGeom prst="line">
            <a:avLst/>
          </a:prstGeom>
          <a:noFill/>
          <a:ln w="2794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2" name="Shape 10"/>
          <p:cNvSpPr/>
          <p:nvPr/>
        </p:nvSpPr>
        <p:spPr>
          <a:xfrm flipV="1">
            <a:off x="1065276" y="2830068"/>
            <a:ext cx="160020" cy="169164"/>
          </a:xfrm>
          <a:prstGeom prst="line">
            <a:avLst/>
          </a:prstGeom>
          <a:noFill/>
          <a:ln w="2794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3" name="Text 11"/>
          <p:cNvSpPr/>
          <p:nvPr/>
        </p:nvSpPr>
        <p:spPr>
          <a:xfrm>
            <a:off x="1554480" y="2459736"/>
            <a:ext cx="67208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1B5E20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흙이 적정이면 → 영양·기타 의심
</a:t>
            </a:r>
            <a:r>
              <a:rPr lang="en-US" sz="1300" dirty="0">
                <a:solidFill>
                  <a:srgbClr val="5B6B60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과습이 아니니 비료·햇빛을 점검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94360" y="3502152"/>
            <a:ext cx="7955280" cy="896112"/>
          </a:xfrm>
          <a:prstGeom prst="roundRect">
            <a:avLst>
              <a:gd name="adj" fmla="val 8163"/>
            </a:avLst>
          </a:prstGeom>
          <a:solidFill>
            <a:srgbClr val="F1F8F2"/>
          </a:solidFill>
          <a:ln w="12700">
            <a:solidFill>
              <a:srgbClr val="D8E8DC"/>
            </a:solidFill>
            <a:prstDash val="solid"/>
          </a:ln>
          <a:effectLst>
            <a:outerShdw blurRad="88900" dist="38100" dir="5400000" algn="bl" rotWithShape="0">
              <a:srgbClr val="1B5E20">
                <a:alpha val="12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15" name="Shape 13"/>
          <p:cNvSpPr/>
          <p:nvPr/>
        </p:nvSpPr>
        <p:spPr>
          <a:xfrm>
            <a:off x="868680" y="3721608"/>
            <a:ext cx="457200" cy="457200"/>
          </a:xfrm>
          <a:prstGeom prst="ellipse">
            <a:avLst/>
          </a:prstGeom>
          <a:solidFill>
            <a:srgbClr val="66BB6A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6" name="Shape 14"/>
          <p:cNvSpPr/>
          <p:nvPr/>
        </p:nvSpPr>
        <p:spPr>
          <a:xfrm>
            <a:off x="978408" y="3959352"/>
            <a:ext cx="86868" cy="82296"/>
          </a:xfrm>
          <a:prstGeom prst="line">
            <a:avLst/>
          </a:prstGeom>
          <a:noFill/>
          <a:ln w="2794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7" name="Shape 15"/>
          <p:cNvSpPr/>
          <p:nvPr/>
        </p:nvSpPr>
        <p:spPr>
          <a:xfrm flipV="1">
            <a:off x="1065276" y="3872484"/>
            <a:ext cx="160020" cy="169164"/>
          </a:xfrm>
          <a:prstGeom prst="line">
            <a:avLst/>
          </a:prstGeom>
          <a:noFill/>
          <a:ln w="2794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8" name="Text 16"/>
          <p:cNvSpPr/>
          <p:nvPr/>
        </p:nvSpPr>
        <p:spPr>
          <a:xfrm>
            <a:off x="1554480" y="3502152"/>
            <a:ext cx="67208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1B5E20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흙이 말라 있으면 → 판단보류
</a:t>
            </a:r>
            <a:r>
              <a:rPr lang="en-US" sz="1300" dirty="0">
                <a:solidFill>
                  <a:srgbClr val="5B6B60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신호가 엇갈려 단정하지 않음 (전체 조합표는 교안 11장)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94360" y="4828032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60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 스마트팜 가상 실습실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726680" y="4828032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60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26</a:t>
            </a:r>
            <a:endParaRPr lang="en-US" sz="90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098590E6-ABB7-C7D1-8BC4-158883304520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rgbClr val="264710">
                <a:tint val="45000"/>
                <a:satMod val="400000"/>
              </a:srgb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11500"/>
                    </a14:imgEffect>
                    <a14:imgEffect>
                      <a14:saturation sat="28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257402" y="4745119"/>
            <a:ext cx="629195" cy="367030"/>
          </a:xfrm>
          <a:prstGeom prst="rect">
            <a:avLst/>
          </a:prstGeom>
          <a:solidFill>
            <a:schemeClr val="accent6">
              <a:lumMod val="50000"/>
              <a:alpha val="0"/>
            </a:schemeClr>
          </a:solidFill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29768"/>
            <a:ext cx="91440" cy="457200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3" name="Text 1"/>
          <p:cNvSpPr/>
          <p:nvPr/>
        </p:nvSpPr>
        <p:spPr>
          <a:xfrm>
            <a:off x="832104" y="384048"/>
            <a:ext cx="77175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B5E20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규칙이 계산하고, AI가 소견을 씁니다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94360" y="1371600"/>
            <a:ext cx="3794760" cy="2468880"/>
          </a:xfrm>
          <a:prstGeom prst="roundRect">
            <a:avLst>
              <a:gd name="adj" fmla="val 2963"/>
            </a:avLst>
          </a:prstGeom>
          <a:solidFill>
            <a:srgbClr val="F1F8F2"/>
          </a:solidFill>
          <a:ln w="12700">
            <a:solidFill>
              <a:srgbClr val="D8E8DC"/>
            </a:solidFill>
            <a:prstDash val="solid"/>
          </a:ln>
          <a:effectLst>
            <a:outerShdw blurRad="88900" dist="38100" dir="5400000" algn="bl" rotWithShape="0">
              <a:srgbClr val="1B5E20">
                <a:alpha val="12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5" name="Shape 3"/>
          <p:cNvSpPr/>
          <p:nvPr/>
        </p:nvSpPr>
        <p:spPr>
          <a:xfrm>
            <a:off x="868680" y="1664208"/>
            <a:ext cx="566928" cy="566928"/>
          </a:xfrm>
          <a:prstGeom prst="ellipse">
            <a:avLst/>
          </a:prstGeom>
          <a:solidFill>
            <a:srgbClr val="A5D6A7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6" name="Text 4"/>
          <p:cNvSpPr/>
          <p:nvPr/>
        </p:nvSpPr>
        <p:spPr>
          <a:xfrm>
            <a:off x="868680" y="166420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978408" y="1773936"/>
            <a:ext cx="347472" cy="347472"/>
          </a:xfrm>
          <a:prstGeom prst="ellipse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8" name="Text 6"/>
          <p:cNvSpPr/>
          <p:nvPr/>
        </p:nvSpPr>
        <p:spPr>
          <a:xfrm>
            <a:off x="1600200" y="164592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5E20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💧 수분 상태 판정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86968" y="2423160"/>
            <a:ext cx="32095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1E2B22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정해진 조합표(규칙)로 계산한 답.</a:t>
            </a:r>
            <a:endParaRPr lang="en-US" sz="14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1E2B22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같은 입력이면 늘 같은 결론이 나옵니다.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886968" y="3383280"/>
            <a:ext cx="32095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7D32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규칙 기반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754880" y="1371600"/>
            <a:ext cx="3794760" cy="2468880"/>
          </a:xfrm>
          <a:prstGeom prst="roundRect">
            <a:avLst>
              <a:gd name="adj" fmla="val 2963"/>
            </a:avLst>
          </a:prstGeom>
          <a:solidFill>
            <a:srgbClr val="F1F8F2"/>
          </a:solidFill>
          <a:ln w="12700">
            <a:solidFill>
              <a:srgbClr val="D8E8DC"/>
            </a:solidFill>
            <a:prstDash val="solid"/>
          </a:ln>
          <a:effectLst>
            <a:outerShdw blurRad="88900" dist="38100" dir="5400000" algn="bl" rotWithShape="0">
              <a:srgbClr val="1B5E20">
                <a:alpha val="12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12" name="Shape 10"/>
          <p:cNvSpPr/>
          <p:nvPr/>
        </p:nvSpPr>
        <p:spPr>
          <a:xfrm>
            <a:off x="5029200" y="1664208"/>
            <a:ext cx="566928" cy="566928"/>
          </a:xfrm>
          <a:prstGeom prst="ellipse">
            <a:avLst/>
          </a:prstGeom>
          <a:solidFill>
            <a:srgbClr val="A5D6A7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3" name="Text 11"/>
          <p:cNvSpPr/>
          <p:nvPr/>
        </p:nvSpPr>
        <p:spPr>
          <a:xfrm>
            <a:off x="5029200" y="166420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5760720" y="164592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5E20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🌿 AI 종합 소견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5047488" y="2423160"/>
            <a:ext cx="32095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1E2B22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실제 수치를 인용해 사람의 말로</a:t>
            </a:r>
            <a:endParaRPr lang="en-US" sz="14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1E2B22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소견·근거·조치를 써 줍니다 (생성형 AI)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594360" y="4828032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60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 스마트팜 가상 실습실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726680" y="4828032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60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27</a:t>
            </a:r>
            <a:endParaRPr lang="en-US" sz="90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6C3E6FE6-1248-4F41-400B-60FE25E7B7B1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rgbClr val="264710">
                <a:tint val="45000"/>
                <a:satMod val="400000"/>
              </a:srgb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11500"/>
                    </a14:imgEffect>
                    <a14:imgEffect>
                      <a14:saturation sat="28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257402" y="4745119"/>
            <a:ext cx="629195" cy="367030"/>
          </a:xfrm>
          <a:prstGeom prst="rect">
            <a:avLst/>
          </a:prstGeom>
          <a:solidFill>
            <a:schemeClr val="accent6">
              <a:lumMod val="50000"/>
              <a:alpha val="0"/>
            </a:schemeClr>
          </a:solidFill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29768"/>
            <a:ext cx="91440" cy="457200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3" name="Text 1"/>
          <p:cNvSpPr/>
          <p:nvPr/>
        </p:nvSpPr>
        <p:spPr>
          <a:xfrm>
            <a:off x="832104" y="384048"/>
            <a:ext cx="77175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B5E20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믿을 수 있는 AI로 만드는 규칙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94360" y="1417320"/>
            <a:ext cx="7955280" cy="896112"/>
          </a:xfrm>
          <a:prstGeom prst="roundRect">
            <a:avLst>
              <a:gd name="adj" fmla="val 8163"/>
            </a:avLst>
          </a:prstGeom>
          <a:solidFill>
            <a:srgbClr val="F1F8F2"/>
          </a:solidFill>
          <a:ln w="12700">
            <a:solidFill>
              <a:srgbClr val="D8E8DC"/>
            </a:solidFill>
            <a:prstDash val="solid"/>
          </a:ln>
          <a:effectLst>
            <a:outerShdw blurRad="88900" dist="38100" dir="5400000" algn="bl" rotWithShape="0">
              <a:srgbClr val="1B5E20">
                <a:alpha val="12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5" name="Shape 3"/>
          <p:cNvSpPr/>
          <p:nvPr/>
        </p:nvSpPr>
        <p:spPr>
          <a:xfrm>
            <a:off x="868680" y="1636776"/>
            <a:ext cx="457200" cy="457200"/>
          </a:xfrm>
          <a:prstGeom prst="ellipse">
            <a:avLst/>
          </a:prstGeom>
          <a:solidFill>
            <a:srgbClr val="66BB6A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6" name="Shape 4"/>
          <p:cNvSpPr/>
          <p:nvPr/>
        </p:nvSpPr>
        <p:spPr>
          <a:xfrm>
            <a:off x="978408" y="1874520"/>
            <a:ext cx="86868" cy="82296"/>
          </a:xfrm>
          <a:prstGeom prst="line">
            <a:avLst/>
          </a:prstGeom>
          <a:noFill/>
          <a:ln w="2794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" name="Shape 5"/>
          <p:cNvSpPr/>
          <p:nvPr/>
        </p:nvSpPr>
        <p:spPr>
          <a:xfrm flipV="1">
            <a:off x="1065276" y="1787652"/>
            <a:ext cx="160020" cy="169164"/>
          </a:xfrm>
          <a:prstGeom prst="line">
            <a:avLst/>
          </a:prstGeom>
          <a:noFill/>
          <a:ln w="2794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8" name="Text 6"/>
          <p:cNvSpPr/>
          <p:nvPr/>
        </p:nvSpPr>
        <p:spPr>
          <a:xfrm>
            <a:off x="1554480" y="1417320"/>
            <a:ext cx="67208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1B5E20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모를 땐 “판단보류”한다
</a:t>
            </a:r>
            <a:r>
              <a:rPr lang="en-US" sz="1300" dirty="0">
                <a:solidFill>
                  <a:srgbClr val="5B6B60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근거가 엇갈리면 억지로 답하지 않음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94360" y="2459736"/>
            <a:ext cx="7955280" cy="896112"/>
          </a:xfrm>
          <a:prstGeom prst="roundRect">
            <a:avLst>
              <a:gd name="adj" fmla="val 8163"/>
            </a:avLst>
          </a:prstGeom>
          <a:solidFill>
            <a:srgbClr val="F1F8F2"/>
          </a:solidFill>
          <a:ln w="12700">
            <a:solidFill>
              <a:srgbClr val="D8E8DC"/>
            </a:solidFill>
            <a:prstDash val="solid"/>
          </a:ln>
          <a:effectLst>
            <a:outerShdw blurRad="88900" dist="38100" dir="5400000" algn="bl" rotWithShape="0">
              <a:srgbClr val="1B5E20">
                <a:alpha val="12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10" name="Shape 8"/>
          <p:cNvSpPr/>
          <p:nvPr/>
        </p:nvSpPr>
        <p:spPr>
          <a:xfrm>
            <a:off x="868680" y="2679192"/>
            <a:ext cx="457200" cy="457200"/>
          </a:xfrm>
          <a:prstGeom prst="ellipse">
            <a:avLst/>
          </a:prstGeom>
          <a:solidFill>
            <a:srgbClr val="66BB6A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1" name="Shape 9"/>
          <p:cNvSpPr/>
          <p:nvPr/>
        </p:nvSpPr>
        <p:spPr>
          <a:xfrm>
            <a:off x="978408" y="2916936"/>
            <a:ext cx="86868" cy="82296"/>
          </a:xfrm>
          <a:prstGeom prst="line">
            <a:avLst/>
          </a:prstGeom>
          <a:noFill/>
          <a:ln w="2794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2" name="Shape 10"/>
          <p:cNvSpPr/>
          <p:nvPr/>
        </p:nvSpPr>
        <p:spPr>
          <a:xfrm flipV="1">
            <a:off x="1065276" y="2830068"/>
            <a:ext cx="160020" cy="169164"/>
          </a:xfrm>
          <a:prstGeom prst="line">
            <a:avLst/>
          </a:prstGeom>
          <a:noFill/>
          <a:ln w="2794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3" name="Text 11"/>
          <p:cNvSpPr/>
          <p:nvPr/>
        </p:nvSpPr>
        <p:spPr>
          <a:xfrm>
            <a:off x="1554480" y="2459736"/>
            <a:ext cx="67208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1B5E20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없는 값은 지어내지 않는다
</a:t>
            </a:r>
            <a:r>
              <a:rPr lang="en-US" sz="1300" dirty="0">
                <a:solidFill>
                  <a:srgbClr val="5B6B60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준 데이터에 없는 수치는 만들지 않게 함 (환각 방지)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94360" y="3502152"/>
            <a:ext cx="7955280" cy="896112"/>
          </a:xfrm>
          <a:prstGeom prst="roundRect">
            <a:avLst>
              <a:gd name="adj" fmla="val 8163"/>
            </a:avLst>
          </a:prstGeom>
          <a:solidFill>
            <a:srgbClr val="F1F8F2"/>
          </a:solidFill>
          <a:ln w="12700">
            <a:solidFill>
              <a:srgbClr val="D8E8DC"/>
            </a:solidFill>
            <a:prstDash val="solid"/>
          </a:ln>
          <a:effectLst>
            <a:outerShdw blurRad="88900" dist="38100" dir="5400000" algn="bl" rotWithShape="0">
              <a:srgbClr val="1B5E20">
                <a:alpha val="12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15" name="Shape 13"/>
          <p:cNvSpPr/>
          <p:nvPr/>
        </p:nvSpPr>
        <p:spPr>
          <a:xfrm>
            <a:off x="868680" y="3721608"/>
            <a:ext cx="457200" cy="457200"/>
          </a:xfrm>
          <a:prstGeom prst="ellipse">
            <a:avLst/>
          </a:prstGeom>
          <a:solidFill>
            <a:srgbClr val="66BB6A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6" name="Shape 14"/>
          <p:cNvSpPr/>
          <p:nvPr/>
        </p:nvSpPr>
        <p:spPr>
          <a:xfrm>
            <a:off x="978408" y="3959352"/>
            <a:ext cx="86868" cy="82296"/>
          </a:xfrm>
          <a:prstGeom prst="line">
            <a:avLst/>
          </a:prstGeom>
          <a:noFill/>
          <a:ln w="2794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7" name="Shape 15"/>
          <p:cNvSpPr/>
          <p:nvPr/>
        </p:nvSpPr>
        <p:spPr>
          <a:xfrm flipV="1">
            <a:off x="1065276" y="3872484"/>
            <a:ext cx="160020" cy="169164"/>
          </a:xfrm>
          <a:prstGeom prst="line">
            <a:avLst/>
          </a:prstGeom>
          <a:noFill/>
          <a:ln w="2794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8" name="Text 16"/>
          <p:cNvSpPr/>
          <p:nvPr/>
        </p:nvSpPr>
        <p:spPr>
          <a:xfrm>
            <a:off x="1554480" y="3502152"/>
            <a:ext cx="67208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1B5E20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오래된 센서값은 밝힌다
</a:t>
            </a:r>
            <a:r>
              <a:rPr lang="en-US" sz="1300" dirty="0">
                <a:solidFill>
                  <a:srgbClr val="5B6B60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“지금은 센서가 응답하지 않음”이라고 알림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94360" y="4828032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60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 스마트팜 가상 실습실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726680" y="4828032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60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28</a:t>
            </a:r>
            <a:endParaRPr lang="en-US" sz="90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098590E6-ABB7-C7D1-8BC4-158883304520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rgbClr val="264710">
                <a:tint val="45000"/>
                <a:satMod val="400000"/>
              </a:srgb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11500"/>
                    </a14:imgEffect>
                    <a14:imgEffect>
                      <a14:saturation sat="28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257402" y="4745119"/>
            <a:ext cx="629195" cy="367030"/>
          </a:xfrm>
          <a:prstGeom prst="rect">
            <a:avLst/>
          </a:prstGeom>
          <a:solidFill>
            <a:schemeClr val="accent6">
              <a:lumMod val="50000"/>
              <a:alpha val="0"/>
            </a:schemeClr>
          </a:solidFill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29768"/>
            <a:ext cx="91440" cy="457200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3" name="Text 1"/>
          <p:cNvSpPr/>
          <p:nvPr/>
        </p:nvSpPr>
        <p:spPr>
          <a:xfrm>
            <a:off x="832104" y="384048"/>
            <a:ext cx="77175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B5E20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캡스톤 — 나만의 자동화 규칙 만들기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94360" y="1234440"/>
            <a:ext cx="3657600" cy="2331720"/>
          </a:xfrm>
          <a:prstGeom prst="roundRect">
            <a:avLst>
              <a:gd name="adj" fmla="val 3137"/>
            </a:avLst>
          </a:prstGeom>
          <a:solidFill>
            <a:srgbClr val="F1F8F2"/>
          </a:solidFill>
          <a:ln w="12700">
            <a:solidFill>
              <a:srgbClr val="D8E8DC"/>
            </a:solidFill>
            <a:prstDash val="solid"/>
          </a:ln>
          <a:effectLst>
            <a:outerShdw blurRad="88900" dist="38100" dir="5400000" algn="bl" rotWithShape="0">
              <a:srgbClr val="1B5E20">
                <a:alpha val="12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5" name="Text 3"/>
          <p:cNvSpPr/>
          <p:nvPr/>
        </p:nvSpPr>
        <p:spPr>
          <a:xfrm>
            <a:off x="850392" y="139903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7D32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개념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50392" y="1737360"/>
            <a:ext cx="314553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B5E20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“만약 ~이면 → ~한다”</a:t>
            </a:r>
            <a:r>
              <a:rPr lang="en-US" sz="1400" dirty="0">
                <a:solidFill>
                  <a:srgbClr val="1E2B22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 조건과 행동을 묶으면 </a:t>
            </a:r>
            <a:r>
              <a:rPr lang="en-US" sz="1400" b="1" dirty="0">
                <a:solidFill>
                  <a:srgbClr val="1B5E20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‘자동화 규칙’</a:t>
            </a:r>
            <a:r>
              <a:rPr lang="en-US" sz="1400" dirty="0">
                <a:solidFill>
                  <a:srgbClr val="1E2B22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. 사람이 없어도 스스로 판단하는 스마트팜의 핵심이며, 프로그래밍의 조건문(if → then)과 같은 구조입니다.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0" y="1234440"/>
            <a:ext cx="3977640" cy="2331720"/>
          </a:xfrm>
          <a:prstGeom prst="roundRect">
            <a:avLst>
              <a:gd name="adj" fmla="val 3137"/>
            </a:avLst>
          </a:prstGeom>
          <a:solidFill>
            <a:srgbClr val="F1F8F2"/>
          </a:solidFill>
          <a:ln w="12700">
            <a:solidFill>
              <a:srgbClr val="D8E8DC"/>
            </a:solidFill>
            <a:prstDash val="solid"/>
          </a:ln>
          <a:effectLst>
            <a:outerShdw blurRad="88900" dist="38100" dir="5400000" algn="bl" rotWithShape="0">
              <a:srgbClr val="1B5E20">
                <a:alpha val="12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8" name="Text 6"/>
          <p:cNvSpPr/>
          <p:nvPr/>
        </p:nvSpPr>
        <p:spPr>
          <a:xfrm>
            <a:off x="4828032" y="139903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7D32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조작 순서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583680" y="138074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7D32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STEP 1~4 완료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583680" y="1655064"/>
            <a:ext cx="310896" cy="128016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1" name="Shape 9"/>
          <p:cNvSpPr/>
          <p:nvPr/>
        </p:nvSpPr>
        <p:spPr>
          <a:xfrm>
            <a:off x="6986016" y="1655064"/>
            <a:ext cx="310896" cy="128016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2" name="Shape 10"/>
          <p:cNvSpPr/>
          <p:nvPr/>
        </p:nvSpPr>
        <p:spPr>
          <a:xfrm>
            <a:off x="7388352" y="1655064"/>
            <a:ext cx="310896" cy="128016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3" name="Shape 11"/>
          <p:cNvSpPr/>
          <p:nvPr/>
        </p:nvSpPr>
        <p:spPr>
          <a:xfrm>
            <a:off x="7790688" y="1655064"/>
            <a:ext cx="310896" cy="128016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4" name="Text 12"/>
          <p:cNvSpPr/>
          <p:nvPr/>
        </p:nvSpPr>
        <p:spPr>
          <a:xfrm>
            <a:off x="4823460" y="2002647"/>
            <a:ext cx="3584448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B22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“내 앱” 하단 “자동화 규칙 만들기”로 이동</a:t>
            </a:r>
            <a:endParaRPr lang="en-US" sz="1150" dirty="0"/>
          </a:p>
          <a:p>
            <a:pPr marL="285750" indent="-28575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B22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조건 선택 — 날씨·AI·센서·카메라 데이터 중에서</a:t>
            </a:r>
            <a:endParaRPr lang="en-US" sz="1150" dirty="0"/>
          </a:p>
          <a:p>
            <a:pPr marL="285750" indent="-28575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B22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행동 선택 — 물주기·환기팬·알림·차광커튼 등</a:t>
            </a:r>
            <a:endParaRPr lang="en-US" sz="1150" dirty="0"/>
          </a:p>
          <a:p>
            <a:pPr marL="285750" indent="-28575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B22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목표: 규칙 3개+ · 데이터 3종+ 사용</a:t>
            </a:r>
            <a:endParaRPr lang="en-US" sz="1150" dirty="0"/>
          </a:p>
          <a:p>
            <a:pPr marL="285750" indent="-28575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B22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시뮬레이터로 가상 상황 바꿔 규칙 발동 확인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94360" y="3700000"/>
            <a:ext cx="7955280" cy="640080"/>
          </a:xfrm>
          <a:prstGeom prst="roundRect">
            <a:avLst>
              <a:gd name="adj" fmla="val 17857"/>
            </a:avLst>
          </a:prstGeom>
          <a:solidFill>
            <a:srgbClr val="2E7D32"/>
          </a:solidFill>
          <a:ln/>
          <a:effectLst>
            <a:outerShdw blurRad="88900" dist="38100" dir="5400000" algn="bl" rotWithShape="0">
              <a:srgbClr val="1B5E20">
                <a:alpha val="12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16" name="Text 14"/>
          <p:cNvSpPr/>
          <p:nvPr/>
        </p:nvSpPr>
        <p:spPr>
          <a:xfrm>
            <a:off x="868680" y="3700000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예) “토양수분이 40% 아래로 내려가면 → 물을 준다” — 왜 그 조건에 그 행동인지 근거까지 설명해보세요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94360" y="4828032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60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 스마트팜 가상 실습실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726680" y="4828032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60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22</a:t>
            </a:r>
            <a:endParaRPr lang="en-US" sz="900" dirty="0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51B9D644-8DB9-64A4-76D9-EE6009553193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rgbClr val="264710">
                <a:tint val="45000"/>
                <a:satMod val="400000"/>
              </a:srgb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11500"/>
                    </a14:imgEffect>
                    <a14:imgEffect>
                      <a14:saturation sat="28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257402" y="4745119"/>
            <a:ext cx="629195" cy="367030"/>
          </a:xfrm>
          <a:prstGeom prst="rect">
            <a:avLst/>
          </a:prstGeom>
          <a:solidFill>
            <a:schemeClr val="accent6">
              <a:lumMod val="50000"/>
              <a:alpha val="0"/>
            </a:schemeClr>
          </a:solidFill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휴식"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41371" y="537210"/>
            <a:ext cx="4476206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6000" b="1" dirty="0">
                <a:solidFill>
                  <a:srgbClr val="3E9A44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☕</a:t>
            </a:r>
            <a:endParaRPr lang="en-US" sz="26000" dirty="0"/>
          </a:p>
        </p:txBody>
      </p:sp>
      <p:sp>
        <p:nvSpPr>
          <p:cNvPr id="3" name="Text 1"/>
          <p:cNvSpPr/>
          <p:nvPr/>
        </p:nvSpPr>
        <p:spPr>
          <a:xfrm>
            <a:off x="822960" y="345948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8E6C9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다음은 STEP 3 — IoT 센서 연결입니다</a:t>
            </a:r>
            <a:endParaRPr lang="en-US" sz="1400" i="1" dirty="0"/>
          </a:p>
        </p:txBody>
      </p:sp>
      <p:sp>
        <p:nvSpPr>
          <p:cNvPr id="4" name="Text 2"/>
          <p:cNvSpPr/>
          <p:nvPr/>
        </p:nvSpPr>
        <p:spPr>
          <a:xfrm>
            <a:off x="822960" y="2148840"/>
            <a:ext cx="6035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☕ 휴식 10분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 rot="-1500000">
            <a:off x="1046074" y="3999586"/>
            <a:ext cx="482803" cy="261518"/>
          </a:xfrm>
          <a:prstGeom prst="ellipse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n-KR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오늘의 소감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29768"/>
            <a:ext cx="91440" cy="457200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3" name="Text 1"/>
          <p:cNvSpPr/>
          <p:nvPr/>
        </p:nvSpPr>
        <p:spPr>
          <a:xfrm>
            <a:off x="832104" y="384048"/>
            <a:ext cx="77175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B5E20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오늘의 소감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594360" y="2459736"/>
            <a:ext cx="7955280" cy="896112"/>
          </a:xfrm>
          <a:prstGeom prst="roundRect">
            <a:avLst>
              <a:gd name="adj" fmla="val 8163"/>
            </a:avLst>
          </a:prstGeom>
          <a:solidFill>
            <a:srgbClr val="F1F8F2"/>
          </a:solidFill>
          <a:ln w="12700">
            <a:solidFill>
              <a:srgbClr val="D8E8DC"/>
            </a:solidFill>
            <a:prstDash val="solid"/>
          </a:ln>
          <a:effectLst>
            <a:outerShdw blurRad="88900" dist="38100" dir="5400000" algn="bl" rotWithShape="0">
              <a:srgbClr val="1B5E20">
                <a:alpha val="12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10" name="Shape 8"/>
          <p:cNvSpPr/>
          <p:nvPr/>
        </p:nvSpPr>
        <p:spPr>
          <a:xfrm>
            <a:off x="868680" y="2679192"/>
            <a:ext cx="457200" cy="457200"/>
          </a:xfrm>
          <a:prstGeom prst="ellipse">
            <a:avLst/>
          </a:prstGeom>
          <a:solidFill>
            <a:srgbClr val="66BB6A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1" name="Shape 9"/>
          <p:cNvSpPr/>
          <p:nvPr/>
        </p:nvSpPr>
        <p:spPr>
          <a:xfrm>
            <a:off x="978408" y="2916936"/>
            <a:ext cx="86868" cy="82296"/>
          </a:xfrm>
          <a:prstGeom prst="line">
            <a:avLst/>
          </a:prstGeom>
          <a:noFill/>
          <a:ln w="2794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2" name="Shape 10"/>
          <p:cNvSpPr/>
          <p:nvPr/>
        </p:nvSpPr>
        <p:spPr>
          <a:xfrm flipV="1">
            <a:off x="1065276" y="2830068"/>
            <a:ext cx="160020" cy="169164"/>
          </a:xfrm>
          <a:prstGeom prst="line">
            <a:avLst/>
          </a:prstGeom>
          <a:noFill/>
          <a:ln w="2794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3" name="Text 11"/>
          <p:cNvSpPr/>
          <p:nvPr/>
        </p:nvSpPr>
        <p:spPr>
          <a:xfrm>
            <a:off x="1554480" y="2459736"/>
            <a:ext cx="67208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1B5E20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가장 신기했던 스테이션과 그 이유는?
</a:t>
            </a:r>
            <a:r>
              <a:rPr lang="en-US" sz="1300" dirty="0">
                <a:solidFill>
                  <a:srgbClr val="5B6B60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2~3명 발표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94360" y="4828032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60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 스마트팜 가상 실습실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726680" y="4828032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60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31</a:t>
            </a:r>
            <a:endParaRPr lang="en-US" sz="90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098590E6-ABB7-C7D1-8BC4-158883304520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rgbClr val="264710">
                <a:tint val="45000"/>
                <a:satMod val="400000"/>
              </a:srgb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11500"/>
                    </a14:imgEffect>
                    <a14:imgEffect>
                      <a14:saturation sat="28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257402" y="4745119"/>
            <a:ext cx="629195" cy="367030"/>
          </a:xfrm>
          <a:prstGeom prst="rect">
            <a:avLst/>
          </a:prstGeom>
          <a:solidFill>
            <a:schemeClr val="accent6">
              <a:lumMod val="50000"/>
              <a:alpha val="0"/>
            </a:schemeClr>
          </a:solidFill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29768"/>
            <a:ext cx="91440" cy="457200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3" name="Text 1"/>
          <p:cNvSpPr/>
          <p:nvPr/>
        </p:nvSpPr>
        <p:spPr>
          <a:xfrm>
            <a:off x="832104" y="384048"/>
            <a:ext cx="77175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B5E20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오늘의 비밀 공개 🔓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94360" y="1417320"/>
            <a:ext cx="7955280" cy="896112"/>
          </a:xfrm>
          <a:prstGeom prst="roundRect">
            <a:avLst>
              <a:gd name="adj" fmla="val 8163"/>
            </a:avLst>
          </a:prstGeom>
          <a:solidFill>
            <a:srgbClr val="F1F8F2"/>
          </a:solidFill>
          <a:ln w="12700">
            <a:solidFill>
              <a:srgbClr val="D8E8DC"/>
            </a:solidFill>
            <a:prstDash val="solid"/>
          </a:ln>
          <a:effectLst>
            <a:outerShdw blurRad="88900" dist="38100" dir="5400000" algn="bl" rotWithShape="0">
              <a:srgbClr val="1B5E20">
                <a:alpha val="12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5" name="Shape 3"/>
          <p:cNvSpPr/>
          <p:nvPr/>
        </p:nvSpPr>
        <p:spPr>
          <a:xfrm>
            <a:off x="868680" y="1636776"/>
            <a:ext cx="457200" cy="457200"/>
          </a:xfrm>
          <a:prstGeom prst="ellipse">
            <a:avLst/>
          </a:prstGeom>
          <a:solidFill>
            <a:srgbClr val="66BB6A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6" name="Shape 4"/>
          <p:cNvSpPr/>
          <p:nvPr/>
        </p:nvSpPr>
        <p:spPr>
          <a:xfrm>
            <a:off x="978408" y="1874520"/>
            <a:ext cx="86868" cy="82296"/>
          </a:xfrm>
          <a:prstGeom prst="line">
            <a:avLst/>
          </a:prstGeom>
          <a:noFill/>
          <a:ln w="2794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" name="Shape 5"/>
          <p:cNvSpPr/>
          <p:nvPr/>
        </p:nvSpPr>
        <p:spPr>
          <a:xfrm flipV="1">
            <a:off x="1065276" y="1787652"/>
            <a:ext cx="160020" cy="169164"/>
          </a:xfrm>
          <a:prstGeom prst="line">
            <a:avLst/>
          </a:prstGeom>
          <a:noFill/>
          <a:ln w="2794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8" name="Text 6"/>
          <p:cNvSpPr/>
          <p:nvPr/>
        </p:nvSpPr>
        <p:spPr>
          <a:xfrm>
            <a:off x="1554480" y="1417320"/>
            <a:ext cx="67208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1B5E20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사실, 여러분이 붙여넣은 인증키는 문을 여는 ‘스위치’였습니다
</a:t>
            </a:r>
            <a:r>
              <a:rPr lang="en-US" sz="1300" dirty="0">
                <a:solidFill>
                  <a:srgbClr val="5B6B60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진짜 기상청 호출은 서버에 숨겨둔 키가 했어요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94360" y="2459736"/>
            <a:ext cx="7955280" cy="896112"/>
          </a:xfrm>
          <a:prstGeom prst="roundRect">
            <a:avLst>
              <a:gd name="adj" fmla="val 8163"/>
            </a:avLst>
          </a:prstGeom>
          <a:solidFill>
            <a:srgbClr val="F1F8F2"/>
          </a:solidFill>
          <a:ln w="12700">
            <a:solidFill>
              <a:srgbClr val="D8E8DC"/>
            </a:solidFill>
            <a:prstDash val="solid"/>
          </a:ln>
          <a:effectLst>
            <a:outerShdw blurRad="88900" dist="38100" dir="5400000" algn="bl" rotWithShape="0">
              <a:srgbClr val="1B5E20">
                <a:alpha val="12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10" name="Shape 8"/>
          <p:cNvSpPr/>
          <p:nvPr/>
        </p:nvSpPr>
        <p:spPr>
          <a:xfrm>
            <a:off x="868680" y="2679192"/>
            <a:ext cx="457200" cy="457200"/>
          </a:xfrm>
          <a:prstGeom prst="ellipse">
            <a:avLst/>
          </a:prstGeom>
          <a:solidFill>
            <a:srgbClr val="66BB6A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1" name="Shape 9"/>
          <p:cNvSpPr/>
          <p:nvPr/>
        </p:nvSpPr>
        <p:spPr>
          <a:xfrm>
            <a:off x="978408" y="2916936"/>
            <a:ext cx="86868" cy="82296"/>
          </a:xfrm>
          <a:prstGeom prst="line">
            <a:avLst/>
          </a:prstGeom>
          <a:noFill/>
          <a:ln w="2794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2" name="Shape 10"/>
          <p:cNvSpPr/>
          <p:nvPr/>
        </p:nvSpPr>
        <p:spPr>
          <a:xfrm flipV="1">
            <a:off x="1065276" y="2830068"/>
            <a:ext cx="160020" cy="169164"/>
          </a:xfrm>
          <a:prstGeom prst="line">
            <a:avLst/>
          </a:prstGeom>
          <a:noFill/>
          <a:ln w="2794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3" name="Text 11"/>
          <p:cNvSpPr/>
          <p:nvPr/>
        </p:nvSpPr>
        <p:spPr>
          <a:xfrm>
            <a:off x="1554480" y="2459736"/>
            <a:ext cx="67208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1B5E20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왜 진짜 키를 나눠주지 않았을까?
</a:t>
            </a:r>
            <a:r>
              <a:rPr lang="en-US" sz="1300" dirty="0">
                <a:solidFill>
                  <a:srgbClr val="5B6B60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나눠주는 순간이 곧 ‘키 유출’이기 때문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94360" y="3502152"/>
            <a:ext cx="7955280" cy="896112"/>
          </a:xfrm>
          <a:prstGeom prst="roundRect">
            <a:avLst>
              <a:gd name="adj" fmla="val 8163"/>
            </a:avLst>
          </a:prstGeom>
          <a:solidFill>
            <a:srgbClr val="F1F8F2"/>
          </a:solidFill>
          <a:ln w="12700">
            <a:solidFill>
              <a:srgbClr val="D8E8DC"/>
            </a:solidFill>
            <a:prstDash val="solid"/>
          </a:ln>
          <a:effectLst>
            <a:outerShdw blurRad="88900" dist="38100" dir="5400000" algn="bl" rotWithShape="0">
              <a:srgbClr val="1B5E20">
                <a:alpha val="12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15" name="Shape 13"/>
          <p:cNvSpPr/>
          <p:nvPr/>
        </p:nvSpPr>
        <p:spPr>
          <a:xfrm>
            <a:off x="868680" y="3721608"/>
            <a:ext cx="457200" cy="457200"/>
          </a:xfrm>
          <a:prstGeom prst="ellipse">
            <a:avLst/>
          </a:prstGeom>
          <a:solidFill>
            <a:srgbClr val="66BB6A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6" name="Shape 14"/>
          <p:cNvSpPr/>
          <p:nvPr/>
        </p:nvSpPr>
        <p:spPr>
          <a:xfrm>
            <a:off x="978408" y="3959352"/>
            <a:ext cx="86868" cy="82296"/>
          </a:xfrm>
          <a:prstGeom prst="line">
            <a:avLst/>
          </a:prstGeom>
          <a:noFill/>
          <a:ln w="2794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7" name="Shape 15"/>
          <p:cNvSpPr/>
          <p:nvPr/>
        </p:nvSpPr>
        <p:spPr>
          <a:xfrm flipV="1">
            <a:off x="1065276" y="3872484"/>
            <a:ext cx="160020" cy="169164"/>
          </a:xfrm>
          <a:prstGeom prst="line">
            <a:avLst/>
          </a:prstGeom>
          <a:noFill/>
          <a:ln w="2794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8" name="Text 16"/>
          <p:cNvSpPr/>
          <p:nvPr/>
        </p:nvSpPr>
        <p:spPr>
          <a:xfrm>
            <a:off x="1554480" y="3502152"/>
            <a:ext cx="67208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1B5E20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오늘 배운 ‘키는 비밀’ 원칙
</a:t>
            </a:r>
            <a:r>
              <a:rPr lang="en-US" sz="1300" dirty="0">
                <a:solidFill>
                  <a:srgbClr val="5B6B60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이 수업이 처음부터 지키고 있었던 것!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94360" y="4828032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60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 스마트팜 가상 실습실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726680" y="4828032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60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30</a:t>
            </a:r>
            <a:endParaRPr lang="en-US" sz="90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098590E6-ABB7-C7D1-8BC4-158883304520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rgbClr val="264710">
                <a:tint val="45000"/>
                <a:satMod val="400000"/>
              </a:srgb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11500"/>
                    </a14:imgEffect>
                    <a14:imgEffect>
                      <a14:saturation sat="28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257402" y="4745119"/>
            <a:ext cx="629195" cy="367030"/>
          </a:xfrm>
          <a:prstGeom prst="rect">
            <a:avLst/>
          </a:prstGeom>
          <a:solidFill>
            <a:schemeClr val="accent6">
              <a:lumMod val="50000"/>
              <a:alpha val="0"/>
            </a:schemeClr>
          </a:solidFill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aperlogy" panose="020F0302020204030204"/>
        <a:ea typeface="Paperlogy"/>
        <a:cs typeface="Paperlogy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aperlogy" panose="020F0502020204030204"/>
        <a:ea typeface="Paperlogy"/>
        <a:cs typeface="Paperlogy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Paperlogy" panose="02110004020202020204"/>
        <a:ea typeface="Paperlogy"/>
        <a:cs typeface="Paperlogy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aperlogy" panose="02110004020202020204"/>
        <a:ea typeface="Paperlogy"/>
        <a:cs typeface="Paperlogy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1177</Words>
  <Application>Microsoft Macintosh PowerPoint</Application>
  <PresentationFormat>On-screen Show (16:9)</PresentationFormat>
  <Paragraphs>291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Pretendard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닥터그린 스마트팜 가상 실습실 — 수업 슬라이드</dc:title>
  <dc:subject>PptxGenJS Presentation</dc:subject>
  <dc:creator>이주원</dc:creator>
  <cp:lastModifiedBy>이주원</cp:lastModifiedBy>
  <cp:revision>2</cp:revision>
  <dcterms:created xsi:type="dcterms:W3CDTF">2026-07-10T06:45:27Z</dcterms:created>
  <dcterms:modified xsi:type="dcterms:W3CDTF">2026-07-10T07:02:52Z</dcterms:modified>
</cp:coreProperties>
</file>