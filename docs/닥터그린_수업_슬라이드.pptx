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6" r:id="rId37"/>
    <p:sldId id="271" r:id="rId17"/>
    <p:sldId id="272" r:id="rId18"/>
    <p:sldId id="273" r:id="rId19"/>
    <p:sldId id="274" r:id="rId20"/>
    <p:sldId id="275" r:id="rId21"/>
    <p:sldId id="285" r:id="rId36"/>
    <p:sldId id="276" r:id="rId22"/>
    <p:sldId id="280" r:id="rId31"/>
    <p:sldId id="281" r:id="rId32"/>
    <p:sldId id="282" r:id="rId33"/>
    <p:sldId id="283" r:id="rId34"/>
    <p:sldId id="284" r:id="rId35"/>
    <p:sldId id="277" r:id="rId23"/>
    <p:sldId id="287" r:id="rId38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4710"/>
    <a:srgbClr val="008F00"/>
    <a:srgbClr val="009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89"/>
  </p:normalViewPr>
  <p:slideViewPr>
    <p:cSldViewPr snapToGrid="0" snapToObjects="1">
      <p:cViewPr>
        <p:scale>
          <a:sx n="147" d="100"/>
          <a:sy n="147" d="100"/>
        </p:scale>
        <p:origin x="1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9820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코드를 타이핑하지 않고 버튼으로 스마트팜 앱 하나를 완성한다는 것을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스마트팜 사진/영상 1~2장이 있으면 이 슬라이드 전후에 보여줄 것. 실물 딸기 디바이스가 있으면 잠깐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번호 배정표대로. 이전 기록이 남아 있으면 초기화 먼저.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STEP은 시뮬레이션이 아니라 실제 기상청 날씨를 받아온다는 점을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위치 권한 거부돼도 지역 버튼으로 실제 호출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“오늘 여러분이 직접 AI 선생님이 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순간 전체 학생을 잠깐 멈추게 하고 함께 그래프를 해석할 것 — 수업 최고의 장면.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실물 장비가 있을 때만 사용. 없으면 이 슬라이드 건너뛰기.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1~2명 발표. ‘왜’를 묻는 것이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D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5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6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0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822960" y="1367458"/>
            <a:ext cx="76809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41248" y="2320263"/>
            <a:ext cx="1737360" cy="60350"/>
          </a:xfrm>
          <a:prstGeom prst="roundRect">
            <a:avLst>
              <a:gd name="adj" fmla="val 50000"/>
            </a:avLst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2478454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나만의 스마트팜 앱 완성하기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 err="1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서울로봇인공지능과학관</a:t>
            </a:r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398304D-4E05-F12F-2FD4-C0BD81A7DE3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05840"/>
            <a:ext cx="768096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0" b="1" dirty="0">
                <a:solidFill>
                  <a:srgbClr val="66BB6A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1005840" y="123444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농장에 사람이 없어도 온도를 재고,</a:t>
            </a:r>
            <a:endParaRPr lang="en-US" sz="27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병든 잎을 찾아내고, 물을 주는 농장이 있다면?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31519" y="36804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 err="1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그</a:t>
            </a:r>
            <a:r>
              <a:rPr lang="ko-KR" altLang="en-US" sz="18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농장이 바로</a:t>
            </a:r>
            <a:r>
              <a:rPr lang="en-US" sz="18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8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‘스마트팜’</a:t>
            </a:r>
            <a:r>
              <a:rPr lang="en-US" sz="18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입니다. </a:t>
            </a:r>
          </a:p>
          <a:p>
            <a:pPr marL="0" indent="0" algn="ctr">
              <a:buNone/>
            </a:pPr>
            <a:r>
              <a:rPr lang="ko-KR" altLang="en-US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 수업에서 </a:t>
            </a:r>
            <a:r>
              <a:rPr lang="ko-KR" altLang="en-US" dirty="0" err="1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스마트팜을</a:t>
            </a:r>
            <a:r>
              <a:rPr lang="ko-KR" altLang="en-US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직접 만들어보도록 하겠습니다</a:t>
            </a:r>
            <a:r>
              <a:rPr lang="en-US" altLang="ko-KR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9D6B17-F042-EE52-B137-5C840192264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스마트팜은 4가지 기술의 조합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50392" y="158191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50392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15453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 날씨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정부 데이터로 우리 동네 날씨를 가져온다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010912" y="158191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010912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623560" y="15453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비전 (YOLO)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0" y="21031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사진으로 병든 잎을 스스로 찾아낸다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081528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50392" y="33375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5039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63040" y="330098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센서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385876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온도·습도를 실시간으로 잰다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081528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010912" y="33375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01091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23560" y="330098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카메라 영상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29200" y="385876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멀리 있는 농장을 실시간으로 본다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9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824DEF8-4BE3-75E9-4CE6-95A6A681312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4개를 연결하면 내 앱이 완성됩니다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7955280" cy="822960"/>
          </a:xfrm>
          <a:prstGeom prst="roundRect">
            <a:avLst>
              <a:gd name="adj" fmla="val 8889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50392" y="15087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5039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방 번호(1~15)를 배정받아  </a:t>
            </a: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방에서 실습합니다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7955280" cy="822960"/>
          </a:xfrm>
          <a:prstGeom prst="roundRect">
            <a:avLst>
              <a:gd name="adj" fmla="val 8889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850392" y="2459736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850392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08760" y="2276856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STEP을 하나 통과할 때마다  </a:t>
            </a: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앱의 잠긴 기능이 하나씩 켜집니다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227832"/>
            <a:ext cx="7955280" cy="822960"/>
          </a:xfrm>
          <a:prstGeom prst="roundRect">
            <a:avLst>
              <a:gd name="adj" fmla="val 8889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850392" y="341071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50392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22783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4개(4/4)를 모두 연결하면  </a:t>
            </a: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나만의 스마트팜 앱이 완성됩니다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187952"/>
            <a:ext cx="7955280" cy="512064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68680" y="418795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지금부터 실습 시작해보도록 하겠습니다</a:t>
            </a:r>
            <a:r>
              <a:rPr lang="en-US" altLang="ko-KR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AD41FD-E1A6-E482-E26D-6D1CD56733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이렇게 접속하세요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623060" y="14813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62306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접속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304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크롬에서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doctor-green-edu.vercel.app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0128" y="12801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338828" y="14813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3388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10128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방 선택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2304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방 번호 선택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(선생님이 알려준 번호)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25896" y="12801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7054596" y="14813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05459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025896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초기화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63056" y="2304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“이 방 초기화 (처음부터 다시)”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한 번 눌러 깨끗하게 시작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310128"/>
            <a:ext cx="7955280" cy="960120"/>
          </a:xfrm>
          <a:prstGeom prst="roundRect">
            <a:avLst>
              <a:gd name="adj" fmla="val 7619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50392" y="3456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관전 포인트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" y="3749040"/>
            <a:ext cx="7443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버튼을 누를 때마다 화면 아래 ‘가상 Supabase’에 데이터가 한 줄씩 쌓이는 것을 지켜보세요.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9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097F231-B428-49AE-C98E-9A258CE41E8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7760" y="91440"/>
            <a:ext cx="4023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01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 날씨 연결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15분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진짜 데이터는 ‘열쇠’로 여는 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6868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78408" y="1773936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60020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8696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정부·공공기관이 누구나 쓰도록 무료로 공개한 데이터.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예) 기상청 날씨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data.go.kr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502920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76072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4748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그 데이터를 쓸 자격을 증명하는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열쇠 문자열. 발급받아 사용합니다.</a:t>
            </a:r>
            <a:endParaRPr lang="en-US" sz="145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열쇠는 비밀번호처럼! 남과 공유하거나 코드에 올리지 않기</a:t>
            </a:r>
            <a:endParaRPr lang="en-US" sz="1250" b="1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7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C3E6FE6-1248-4F41-400B-60FE25E7B7B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인증키를 넣으면 잠긴 기능이 켜집니다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50392" y="1618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9CFC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50392" y="16184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544C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잠김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13816" y="2075688"/>
            <a:ext cx="207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날씨 카드가 잠김 상태.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“아직 인증키가 없어서 날씨 기능이 작동하지 않아요”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버튼은 회색, 눌리지 않음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45536" y="2350008"/>
            <a:ext cx="384048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3529584" y="141732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749040" y="1600200"/>
            <a:ext cx="207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67328" y="198424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 붙여넣기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“인증키 저장” 클릭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“확인 중…” 약 1초 대기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“저장된 인증키” 표시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2350008"/>
            <a:ext cx="384048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6464808" y="141732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6720840" y="1618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720840" y="16184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켜짐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84264" y="2075688"/>
            <a:ext cx="207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날씨 카드가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‘잠김’에서 ‘켜짐’으로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살아납니다.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날씨 기능 사용 가능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4114800"/>
            <a:ext cx="7955280" cy="512064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868680" y="411480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 = 문을 여는 열쇠. 넣기 전과 후를 꼭 비교해 보세요.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8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DA6F4B4-B849-6B61-5509-2C417B353B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  <p:sp>
        <p:nvSpPr>
          <p:cNvPr id="22" name="Text 21"/>
          <p:cNvSpPr/>
          <p:nvPr/>
        </p:nvSpPr>
        <p:spPr>
          <a:xfrm>
            <a:off x="594360" y="374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인증키는 선생님이 공유하는 견본 키를 사용하세요</a:t>
            </a:r>
            <a:endParaRPr lang="en-US" sz="1200" i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위치의 진짜 날씨를 받아옵니다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513024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“내 위치 날씨 가져오기”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클릭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                                                     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위치 권한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허용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                                                                     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기온·하늘 상태가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화면에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표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685800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서울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581912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81912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대전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78024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2478024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광주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74136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374136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부산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70248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270248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제주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10896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E7F4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22960" y="3246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weather_cache</a:t>
            </a:r>
            <a:r>
              <a:rPr lang="en-US" sz="15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테이블에 새 줄 </a:t>
            </a: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INSERT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66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데이터가 한 줄씩 쌓입니다.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0" y="137160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6172200" y="16002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여기까지 하면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1965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1 완료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27648" y="2971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1/4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27648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729984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132320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7534656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9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8801BF3-5A7B-7416-3F1A-6DFB3BA5F65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여기를 꼭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화면의 기온을 지금 창밖·핸드폰 날씨와 비교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진짜 데이터임을 확인합니다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호출 주소의 nx, ny = 기상청 격자 좌표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위경도를 지도 칸 번호로 바꾼 것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데이터가 테이블에 한 줄씩 쌓이는 구조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 서비스와 똑같습니다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10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0" y="260604"/>
            <a:ext cx="4606835" cy="462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02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비전(YOLO) 학습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30분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학습은 3단계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577340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773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라벨링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사람이 ‘건강 / 병해 / 해충’ 정답을 사진에 표시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27248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3465576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4448556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4485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8456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 (epoch 반복)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94176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같은 데이터를 여러 번 보며 스스로 규칙을 익힘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98464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6336792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9772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977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9672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추론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65392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새 사진을 보고 스스로 판단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12</a:t>
            </a:r>
            <a:endParaRPr lang="en-US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D1874D-5C5E-0CD4-893A-5A7BDAD075C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직접 학습시켜 봅시다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“샘플 잎 사진 100장 불러오기” → 100장이 격자로 표시(라벨링되면 색 테두리)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“반복 횟수(epoch)” 슬라이더 조절 (5~30, 기본 15)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“학습 시작” → 라벨링 → 학습 → 준비 완료 (자동 진행)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349240" y="1280160"/>
            <a:ext cx="3154680" cy="2072878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486400" y="13441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샘플 잎 사진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5907024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6281928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656832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031736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406640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5532120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5907024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6281928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6656832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031736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406640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5532120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907024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281928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656832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031736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406640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5532120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5907024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281928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>
            <a:off x="6656832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7031736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7406640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5440680" y="3500714"/>
            <a:ext cx="292608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반복 횟수 (epoch)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40680" y="3819382"/>
            <a:ext cx="2926080" cy="9052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5440680" y="3819382"/>
            <a:ext cx="1170432" cy="9052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4" name="Shape 32"/>
          <p:cNvSpPr/>
          <p:nvPr/>
        </p:nvSpPr>
        <p:spPr>
          <a:xfrm>
            <a:off x="6492240" y="3711026"/>
            <a:ext cx="237744" cy="26151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5394960" y="3958828"/>
            <a:ext cx="36576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28232" y="3958828"/>
            <a:ext cx="36576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3958828"/>
            <a:ext cx="36576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13</a:t>
            </a:r>
            <a:endParaRPr lang="en-US" sz="9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6306C7C-7F31-A969-8D60-B559860E894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학습의 정체 — loss는 내려가고 accuracy는 올라간다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17320" y="3406140"/>
            <a:ext cx="5212080" cy="0"/>
          </a:xfrm>
          <a:prstGeom prst="line">
            <a:avLst/>
          </a:prstGeom>
          <a:noFill/>
          <a:ln w="12700">
            <a:solidFill>
              <a:srgbClr val="E3EEE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417320" y="2971800"/>
            <a:ext cx="5212080" cy="0"/>
          </a:xfrm>
          <a:prstGeom prst="line">
            <a:avLst/>
          </a:prstGeom>
          <a:noFill/>
          <a:ln w="12700">
            <a:solidFill>
              <a:srgbClr val="E3EEE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417320" y="2537460"/>
            <a:ext cx="5212080" cy="0"/>
          </a:xfrm>
          <a:prstGeom prst="line">
            <a:avLst/>
          </a:prstGeom>
          <a:noFill/>
          <a:ln w="12700">
            <a:solidFill>
              <a:srgbClr val="E3EEE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417320" y="2103120"/>
            <a:ext cx="0" cy="1737360"/>
          </a:xfrm>
          <a:prstGeom prst="line">
            <a:avLst/>
          </a:prstGeom>
          <a:noFill/>
          <a:ln w="15875">
            <a:solidFill>
              <a:srgbClr val="5B6B6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1417320" y="3840480"/>
            <a:ext cx="5212080" cy="0"/>
          </a:xfrm>
          <a:prstGeom prst="line">
            <a:avLst/>
          </a:prstGeom>
          <a:noFill/>
          <a:ln w="15875">
            <a:solidFill>
              <a:srgbClr val="5B6B6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1417320" y="2155241"/>
            <a:ext cx="434340" cy="315045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851660" y="2470286"/>
            <a:ext cx="434340" cy="251568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2286000" y="2721854"/>
            <a:ext cx="434340" cy="200881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2720340" y="2922736"/>
            <a:ext cx="434340" cy="160407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3154680" y="3083143"/>
            <a:ext cx="434340" cy="128088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3589020" y="3211230"/>
            <a:ext cx="434340" cy="102280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4023360" y="3313511"/>
            <a:ext cx="434340" cy="81672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4457700" y="3395183"/>
            <a:ext cx="434340" cy="65217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4892040" y="3460399"/>
            <a:ext cx="434340" cy="52077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326380" y="3512476"/>
            <a:ext cx="434340" cy="41584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5760720" y="3554060"/>
            <a:ext cx="434340" cy="33205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195060" y="3587266"/>
            <a:ext cx="434340" cy="26515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 flipV="1">
            <a:off x="1417320" y="3316869"/>
            <a:ext cx="434340" cy="315128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 flipV="1">
            <a:off x="1851660" y="3071447"/>
            <a:ext cx="434340" cy="245422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 flipV="1">
            <a:off x="2286000" y="2880312"/>
            <a:ext cx="434340" cy="191135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 flipV="1">
            <a:off x="2720340" y="2731456"/>
            <a:ext cx="434340" cy="148856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 flipV="1">
            <a:off x="3154680" y="2615526"/>
            <a:ext cx="434340" cy="115929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 flipV="1">
            <a:off x="3589020" y="2525241"/>
            <a:ext cx="434340" cy="90286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 flipV="1">
            <a:off x="4023360" y="2454926"/>
            <a:ext cx="434340" cy="70315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 flipV="1">
            <a:off x="4457700" y="2400165"/>
            <a:ext cx="434340" cy="54761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 flipV="1">
            <a:off x="4892040" y="2357517"/>
            <a:ext cx="434340" cy="42648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 flipV="1">
            <a:off x="5326380" y="2324303"/>
            <a:ext cx="434340" cy="33214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 flipV="1">
            <a:off x="5760720" y="2298435"/>
            <a:ext cx="434340" cy="25867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 flipV="1">
            <a:off x="6195060" y="2278290"/>
            <a:ext cx="434340" cy="20145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702552" y="215027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accuracy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02552" y="3485765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loss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17320" y="39136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 반복 (epoch) →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205740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37124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낮음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" y="4184664"/>
            <a:ext cx="7955280" cy="603368"/>
          </a:xfrm>
          <a:prstGeom prst="roundRect">
            <a:avLst>
              <a:gd name="adj" fmla="val 18182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868680" y="4184664"/>
            <a:ext cx="7406640" cy="603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실수는 줄고 정답률은 오른다. 이것이 ‘학습’입니다.</a:t>
            </a:r>
            <a:endParaRPr lang="en-US" sz="1450" dirty="0"/>
          </a:p>
          <a:p>
            <a:pPr marL="0" indent="0" algn="ctr">
              <a:spcBef>
                <a:spcPts val="300"/>
              </a:spcBef>
              <a:buNone/>
            </a:pPr>
            <a:r>
              <a:rPr lang="en-US" sz="950" dirty="0">
                <a:solidFill>
                  <a:srgbClr val="D8E8DC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단, 무한정 반복해도 계속 오르지는 않습니다 (수확체감 · 과적합 주의)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14</a:t>
            </a:r>
            <a:endParaRPr lang="en-US" sz="9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F631B6F-C58B-32CF-BCF0-2741E714446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학습한 AI로 진단하기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“새 잎 사진 진단하기” 클릭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작물(토마토/고추/상추/딸기/오이) + 진단(건강/병해/해충) + 신뢰도(%)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diagnoses 테이블에 INSERT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2/4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088136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1490472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1892808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94360" y="3230264"/>
            <a:ext cx="4754880" cy="1522736"/>
          </a:xfrm>
          <a:prstGeom prst="roundRect">
            <a:avLst>
              <a:gd name="adj" fmla="val 8421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3816" y="33491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생각해보기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3816" y="3614312"/>
            <a:ext cx="4428744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신뢰도가 100%가 아닌 이유? AI는 확신이 아니라 ‘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확률’로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답합니다</a:t>
            </a:r>
            <a:r>
              <a:rPr lang="en-US" altLang="ko-KR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3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건강한 잎을 ‘병해’로 잘못 보면? → 오탐(거짓양성)</a:t>
            </a:r>
            <a:endParaRPr lang="en-US" sz="13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 앱은 신뢰도 75% 미만이면 판단을 보류합니다 — 좋은 AI는 모를 때 ‘모른다’고 말해요!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0" y="137160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080760" y="15361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진단 결과 (예시)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1965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작물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4944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딸기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126480" y="25328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진단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49440" y="25328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병해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126480" y="309981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신뢰도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09981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87%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126480" y="3794760"/>
            <a:ext cx="2148840" cy="146304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1869491" cy="14630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15</a:t>
            </a:r>
            <a:endParaRPr lang="en-US" sz="9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1136EFF-FF43-5AFC-7B1C-FA936C13476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03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센서 연결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20분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작은 컴퓨터가 온습도를 실시간으로 보냅니다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65760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50392" y="1399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" y="1737360"/>
            <a:ext cx="3145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ESP32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(손가락만 한 소형 컴퓨터)가 온도·습도를 재서 </a:t>
            </a: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WiFi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로 데이터베이스에 전송하고, 앱이 그래프로 표시합니다.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2344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28032" y="1399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조작 순서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380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3/4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986016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88352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790688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823460" y="1930400"/>
            <a:ext cx="3584448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전원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켜기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온도·습도 슬라이더로 값 설정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측정값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1회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전송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(이 순간 연결 완료)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데이터가 센서에서 DB로 이동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자동측정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시작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1.5초마다 자동 전송,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그래프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“입김 불기(습도 상승)” → 습도가 확 뛰며 산봉우리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593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흐름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61722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센서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90572" y="4032504"/>
            <a:ext cx="347472" cy="274320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272034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272034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인터넷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3692" y="4032504"/>
            <a:ext cx="347472" cy="274320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482346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482346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데이터베이스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6812" y="4032504"/>
            <a:ext cx="347472" cy="274320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92658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7F4E9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92658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 그래프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18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B9D644-8DB9-64A4-76D9-EE600955319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F7355BBC-BF7F-380E-EEC5-80CD99C7A212}"/>
              </a:ext>
            </a:extLst>
          </p:cNvPr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</a:t>
            </a:r>
            <a:r>
              <a:rPr lang="en-US" altLang="ko-KR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카메라(영상) 연결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10분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멀리 있는 농장을 실시간으로 봅니다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50392" y="14447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WiFi 카메라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가 영상을 클라우드에 올리고, 앱은 그 </a:t>
            </a: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‘주소(camera_url)’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만 알면 실시간으로 봅니다.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28032" y="14447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조작 순서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4264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4/4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986016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88352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790688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828032" y="1938528"/>
            <a:ext cx="3465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“카메라 연결하기” → 주소 발급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“라이브 켜기” → 실시간 화면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시작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“스냅샷 한 장 더 찍기” →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camera_frames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ko-KR" alt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 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테이블에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프레임 기록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534720"/>
            <a:ext cx="7955280" cy="1163312"/>
          </a:xfrm>
          <a:prstGeom prst="roundRect">
            <a:avLst>
              <a:gd name="adj" fmla="val 8000"/>
            </a:avLst>
          </a:prstGeom>
          <a:solidFill>
            <a:srgbClr val="E7F4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50392" y="36627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연결고리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0392" y="3937056"/>
            <a:ext cx="7443216" cy="72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기록의 ‘note’에 “딸기 잎 감지” 등 — STEP2의 AI 비전과 카메라가 만나면 자동 감시가 됩니다.</a:t>
            </a:r>
            <a:endParaRPr lang="en-US" sz="14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camera_url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도 ‘열쇠’ — 주소가 새면 남이 내 농장을 봅니다. 비밀로 관리!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20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290FE02-05A5-DC90-1B28-9589AEEC0B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4개를 다 켜면, 나만의 </a:t>
            </a:r>
            <a:r>
              <a:rPr lang="en-US" sz="2800" b="1" dirty="0" err="1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</a:t>
            </a: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2800" b="1" dirty="0" err="1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</a:t>
            </a: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2800" b="1" dirty="0" err="1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완성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289304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399032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485900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85800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 날씨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85800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15184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3310128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3419856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 flipV="1">
            <a:off x="3506724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2706624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진단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706624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비전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36008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5330952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40680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 flipV="1">
            <a:off x="5527548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4727448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 분석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727448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온습도 그래프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56832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51776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461504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 flipV="1">
            <a:off x="7548372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748272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 카메라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748272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라이브 영상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" y="3524794"/>
            <a:ext cx="7955280" cy="640080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68680" y="3524794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아직 잠긴 기능이 있다면 꼭 마저 완료해주세요</a:t>
            </a:r>
            <a:r>
              <a:rPr lang="en-US" altLang="ko-KR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21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6C83DA5-9FB0-96F6-5FF2-27E501C4DFC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이건 진짜로도 돌아갑니다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17830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DDEFE0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헥사보드 (ESP32)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37360" y="2212848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1B5E20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737360" y="2212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5D6A7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24.6°C  /  61%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97180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14400" y="2971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온습도 센서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297180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2011680" y="2971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토양수분 센서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297180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108960" y="2971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0" y="14630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실물 딸기 디바이스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온습도 센서 · 토양수분 센서 · LED, 그리고 </a:t>
            </a:r>
            <a:r>
              <a:rPr lang="en-US" sz="14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LCD에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온습도가 표시됩니다.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0" y="28346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E7F4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4800600" y="2971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ko-KR" alt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센서에서 표기되는 수치와 </a:t>
            </a:r>
            <a:endParaRPr lang="en-US" altLang="ko-KR" sz="1400" b="1" dirty="0">
              <a:solidFill>
                <a:srgbClr val="1B5E20"/>
              </a:solidFill>
              <a:latin typeface="Paperlogy" pitchFamily="34" charset="0"/>
              <a:ea typeface="Paperlogy" pitchFamily="34" charset="-122"/>
              <a:cs typeface="Paperlogy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앱에서 표기되는 수치가 같음을 확인할 수 있습니다</a:t>
            </a:r>
            <a:r>
              <a:rPr lang="en-US" altLang="ko-KR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23</a:t>
            </a:r>
            <a:endParaRPr lang="en-US" sz="9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DFB03FB-6220-13F3-4B47-F71D55175B6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정리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13816" y="1225296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13816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공공데이터를 쓰려면 먼저 무엇이 필요할까?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2252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6400800" y="12252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1682496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813816" y="1719072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813816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1682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학습에서 ‘반복 횟수’를 뭐라고 부를까?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171907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400800" y="17190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epoch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2176272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813816" y="2212848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813816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176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학습이 잘 될수록 내려가는 값은?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221284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0" y="22128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loss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94360" y="2670048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813816" y="2706624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813816" y="2706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2670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센서 값이 저장되는 곳은?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270662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400800" y="27066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데이터베이스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94360" y="3163824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813816" y="3200400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13816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71600" y="31638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테이블에 새 데이터 한 줄을 추가하는 명령은?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0" y="32004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00800" y="32004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INSERT</a:t>
            </a:r>
            <a:endParaRPr lang="en-US" sz="1350" dirty="0"/>
          </a:p>
        </p:txBody>
      </p:sp>
      <p:sp>
        <p:nvSpPr>
          <p:cNvPr id="40" name="Shape 26"/>
          <p:cNvSpPr/>
          <p:nvPr/>
        </p:nvSpPr>
        <p:spPr>
          <a:xfrm>
            <a:off x="594360" y="3657600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1" name="Shape 27"/>
          <p:cNvSpPr/>
          <p:nvPr/>
        </p:nvSpPr>
        <p:spPr>
          <a:xfrm>
            <a:off x="813816" y="3694176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2" name="Text 28"/>
          <p:cNvSpPr/>
          <p:nvPr/>
        </p:nvSpPr>
        <p:spPr>
          <a:xfrm>
            <a:off x="8138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6</a:t>
            </a:r>
            <a:endParaRPr lang="en-US" sz="1400" dirty="0"/>
          </a:p>
        </p:txBody>
      </p:sp>
      <p:sp>
        <p:nvSpPr>
          <p:cNvPr id="43" name="Text 29"/>
          <p:cNvSpPr/>
          <p:nvPr/>
        </p:nvSpPr>
        <p:spPr>
          <a:xfrm>
            <a:off x="1371600" y="3657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앱은 무엇만 알면 카메라 영상을 볼 수 있을까?</a:t>
            </a:r>
            <a:endParaRPr lang="en-US" sz="1400" dirty="0"/>
          </a:p>
        </p:txBody>
      </p:sp>
      <p:sp>
        <p:nvSpPr>
          <p:cNvPr id="44" name="Shape 30"/>
          <p:cNvSpPr/>
          <p:nvPr/>
        </p:nvSpPr>
        <p:spPr>
          <a:xfrm>
            <a:off x="6400800" y="369417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31"/>
          <p:cNvSpPr/>
          <p:nvPr/>
        </p:nvSpPr>
        <p:spPr>
          <a:xfrm>
            <a:off x="6400800" y="369417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주소(camera_url)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94360" y="4187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3번 참고: 올라가는 값은 정확도(accuracy)</a:t>
            </a:r>
            <a:endParaRPr lang="en-US" sz="1050" dirty="0"/>
          </a:p>
        </p:txBody>
      </p:sp>
      <p:sp>
        <p:nvSpPr>
          <p:cNvPr id="38" name="Shape 37"/>
          <p:cNvSpPr/>
          <p:nvPr/>
        </p:nvSpPr>
        <p:spPr>
          <a:xfrm>
            <a:off x="594360" y="4494840"/>
            <a:ext cx="7955280" cy="28000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9" name="Text 38"/>
          <p:cNvSpPr/>
          <p:nvPr/>
        </p:nvSpPr>
        <p:spPr>
          <a:xfrm>
            <a:off x="868680" y="4494840"/>
            <a:ext cx="740664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이제 실습실 허브의 “마무리 퀴즈”(7문항 · 자동 채점)로 최종 점검!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29</a:t>
            </a:r>
            <a:endParaRPr lang="en-US" sz="9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E30732B-7004-EC3E-078F-4B9AA66764B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오늘의 기술, 이런 직업으로 이어집니다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106424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106424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7512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엔지니어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67512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전체 시스템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12848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2724912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2724912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0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개발자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286000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STEP2 학습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31336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4343400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4343400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04488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라벨러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904488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STEP2 라벨링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49824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961888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961888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22976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임베디드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개발자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522976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STEP3 센서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68312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7580376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7580376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41464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백엔드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개발자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141464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데이터베이스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31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4D971CB-1D19-3761-EA28-B7D66A26DF9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31520" y="187452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ko-KR" altLang="en-US" sz="3200" b="1" dirty="0" err="1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</a:t>
            </a:r>
            <a:r>
              <a:rPr lang="ko-KR" altLang="en-US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앱 개발에 성공하신 여러분들</a:t>
            </a:r>
            <a: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,</a:t>
            </a:r>
            <a:b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</a:br>
            <a:b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</a:br>
            <a:r>
              <a:rPr lang="ko-KR" altLang="en-US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수고하셨습니다</a:t>
            </a:r>
            <a: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A38E1C-A2A3-3D37-BAA8-FA050611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심화 모듈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두 데이터를 합치면</a:t>
            </a:r>
            <a:endParaRPr lang="en-US" sz="4000" dirty="0"/>
          </a:p>
        </p:txBody>
      </p:sp>
      <p:sp>
        <p:nvSpPr>
          <p:cNvPr id="9" name="Text 3"/>
          <p:cNvSpPr/>
          <p:nvPr/>
        </p:nvSpPr>
        <p:spPr>
          <a:xfrm>
            <a:off x="822960" y="3459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※ 추가 차시용 — 오늘 120분 수업에서는 다루지 않습니다</a:t>
            </a:r>
            <a:endParaRPr lang="en-US" sz="1400" i="1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F7355BBC-BF7F-380E-EEC5-80CD99C7A212}"/>
              </a:ext>
            </a:extLst>
          </p:cNvPr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＋</a:t>
            </a:r>
            <a:r>
              <a:rPr lang="en-US" altLang="ko-KR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/>
            </a:r>
            <a:endParaRPr lang="en-US" sz="26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잎만 보면? 흙만 보면? — 합쳐야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577340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773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비전 (잎 사진)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AI가 잎을 봄 — 예: “노란 잎(황화)”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27248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3465576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4448556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4485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8456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센서 (흙)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94176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토양수분을 잼 — 예: “흙이 젖음”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98464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6336792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9772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977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9672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결합 판정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65392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둘을 합치면 → “과습!” (잎 + 흙)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25</a:t>
            </a:r>
            <a:endParaRPr lang="en-US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D1874D-5C5E-0CD4-893A-5A7BDAD075C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같은 노란 잎, 흙에 따라 결론이 바뀝니다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흙이 젖어 있으면 → 과습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물을 너무 많이 줘 뿌리가 숨을 못 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흙이 적정이면 → 영양·기타 의심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과습이 아니니 비료·햇빛을 점검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흙이 말라 있으면 → 판단보류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신호가 엇갈려 단정하지 않음 (전체 조합표는 교안 11장)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26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규칙이 계산하고, AI가 소견을 씁니다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6868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78408" y="1773936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60020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💧 수분 상태 판정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8696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정해진 조합표(규칙)로 계산한 답.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같은 입력이면 늘 같은 결론이 나옵니다.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규칙 기반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502920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76072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🌿 AI 종합 소견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4748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 수치를 인용해 사람의 말로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소견·근거·조치를 써 줍니다 (생성형 AI)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27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C3E6FE6-1248-4F41-400B-60FE25E7B7B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믿을 수 있는 AI로 만드는 규칙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모를 땐 “판단보류”한다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근거가 엇갈리면 억지로 답하지 않음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없는 값은 지어내지 않는다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준 데이터에 없는 수치는 만들지 않게 함 (환각 방지)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오래된 센서값은 밝힌다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“지금은 센서가 응답하지 않음”이라고 알림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28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캡스톤 — 나만의 자동화 규칙 만들기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65760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50392" y="1399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" y="1737360"/>
            <a:ext cx="3145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“만약 ~이면 → ~한다”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조건과 행동을 묶으면 </a:t>
            </a: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‘자동화 규칙’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. 사람이 없어도 스스로 판단하는 스마트팜의 핵심이며, 프로그래밍의 조건문(if → then)과 같은 구조입니다.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2344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28032" y="1399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조작 순서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380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1~4 완료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986016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88352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790688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823460" y="2002647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“내 앱” 하단 “자동화 규칙 만들기”로 이동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조건 선택 — 날씨·AI·센서·카메라 데이터 중에서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행동 선택 — 물주기·환기팬·알림·차광커튼 등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목표: 규칙 3개+ · 데이터 3종+ 사용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시뮬레이터로 가상 상황 바꿔 규칙 발동 확인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700000"/>
            <a:ext cx="7955280" cy="640080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68680" y="370000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예) “토양수분이 30% 아래로 내려가면 → 물을 준다” — 왜 그 조건에 그 행동인지 근거까지 설명해보세요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22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B9D644-8DB9-64A4-76D9-EE600955319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휴식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☕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3459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다음은 STEP 3 — IoT 센서 연결입니다</a:t>
            </a:r>
            <a:endParaRPr lang="en-US" sz="1400" i="1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☕ 휴식 10분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오늘의 소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오늘의 소감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가장 신기했던 스테이션과 그 이유는?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2~3명 발표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30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" panose="020F0302020204030204"/>
        <a:ea typeface="Paperlogy"/>
        <a:cs typeface="Paperlogy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" panose="020F0502020204030204"/>
        <a:ea typeface="Paperlogy"/>
        <a:cs typeface="Paperlogy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aperlogy" panose="02110004020202020204"/>
        <a:ea typeface="Paperlogy"/>
        <a:cs typeface="Paperlogy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" panose="02110004020202020204"/>
        <a:ea typeface="Paperlogy"/>
        <a:cs typeface="Paperlogy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1177</Words>
  <Application>Microsoft Macintosh PowerPoint</Application>
  <PresentationFormat>On-screen Show (16:9)</PresentationFormat>
  <Paragraphs>291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Pretendard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닥터그린 스마트팜 가상 실습실 — 수업 슬라이드</dc:title>
  <dc:subject>PptxGenJS Presentation</dc:subject>
  <dc:creator>이주원</dc:creator>
  <cp:lastModifiedBy>이주원</cp:lastModifiedBy>
  <cp:revision>2</cp:revision>
  <dcterms:created xsi:type="dcterms:W3CDTF">2026-07-10T06:45:27Z</dcterms:created>
  <dcterms:modified xsi:type="dcterms:W3CDTF">2026-07-10T07:02:52Z</dcterms:modified>
</cp:coreProperties>
</file>